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6"/>
  </p:notesMasterIdLst>
  <p:sldIdLst>
    <p:sldId id="261" r:id="rId2"/>
    <p:sldId id="274" r:id="rId3"/>
    <p:sldId id="276" r:id="rId4"/>
    <p:sldId id="304" r:id="rId5"/>
    <p:sldId id="305" r:id="rId6"/>
    <p:sldId id="306" r:id="rId7"/>
    <p:sldId id="307" r:id="rId8"/>
    <p:sldId id="309" r:id="rId9"/>
    <p:sldId id="312" r:id="rId10"/>
    <p:sldId id="308" r:id="rId11"/>
    <p:sldId id="313" r:id="rId12"/>
    <p:sldId id="314" r:id="rId13"/>
    <p:sldId id="315" r:id="rId14"/>
    <p:sldId id="316" r:id="rId15"/>
    <p:sldId id="317" r:id="rId16"/>
    <p:sldId id="319" r:id="rId17"/>
    <p:sldId id="318" r:id="rId18"/>
    <p:sldId id="320" r:id="rId19"/>
    <p:sldId id="310" r:id="rId20"/>
    <p:sldId id="311" r:id="rId21"/>
    <p:sldId id="323" r:id="rId22"/>
    <p:sldId id="321" r:id="rId23"/>
    <p:sldId id="322" r:id="rId24"/>
    <p:sldId id="324" r:id="rId25"/>
  </p:sldIdLst>
  <p:sldSz cx="9144000" cy="5143500" type="screen16x9"/>
  <p:notesSz cx="6858000" cy="9144000"/>
  <p:embeddedFontLst>
    <p:embeddedFont>
      <p:font typeface="Albert Sans" panose="020B0604020202020204" charset="0"/>
      <p:regular r:id="rId27"/>
      <p:bold r:id="rId28"/>
      <p:italic r:id="rId29"/>
      <p:boldItalic r:id="rId30"/>
    </p:embeddedFont>
    <p:embeddedFont>
      <p:font typeface="Nunito" pitchFamily="2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  <p:embeddedFont>
      <p:font typeface="Roboto" panose="020000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A2E80A-91F7-4516-9950-864799E8D45D}">
  <a:tblStyle styleId="{7AA2E80A-91F7-4516-9950-864799E8D4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7" d="100"/>
          <a:sy n="127" d="100"/>
        </p:scale>
        <p:origin x="326" y="42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F91FAE47-BC6D-6BE7-8E54-F2CAE730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73DB7407-3B2E-6DCD-FD1E-533646319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54A752C9-E831-17C3-4047-3C963604D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487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288896CE-66C5-306A-FAAE-CA34E9F8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87ED1B26-16FF-28B6-9C6F-3EB18878B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CEB1F8FF-C820-D1CA-FC7A-109653C91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6462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1168F816-2DBC-B9FC-8D15-50157EDEF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9B3D4F00-5D22-6687-0A43-4BF30BB55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5B03142B-0A19-1702-5B57-238FD481E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780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32F161BC-3C6A-92A8-7607-0EA73199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E0D2A2EF-5737-1DB2-4214-6679256DEF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59D78C94-76AE-C005-6B81-99FB863CB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8209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AAFFB26A-ECBD-E6D4-B9A9-F6342A449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D6143D39-9898-35F0-3FDB-B0EEB8758B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365E36B7-F549-1D3E-6358-7015CE159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0076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FF903DEE-C8FC-2858-2AA9-1C971461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BD3C60D1-69BE-042A-751C-311B720BD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4D2CA16F-025D-DC57-11F2-E4F61C9FFD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419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A2C17B2B-A88F-F68B-D66D-935962EC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A7DCFBDB-0C22-AFCA-4F71-E887A6ACF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350F25DE-8315-D6AF-F698-10132D20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3814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6544173F-ED80-8442-C452-4355759A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A2C5C963-3F76-BC2C-258F-84297280A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6DDC4BF3-7DA3-2072-7C66-54EF6E2EE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652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AA254E8F-CA4D-1F89-140B-63BC31F3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779BE7DF-287B-BA3F-91B1-297223459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ABC164EA-B822-DD40-5A2E-08806C380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226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0DCDCCB2-F0DA-AEA7-022A-1ABE5FBC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8A96C8AA-3C8F-9039-C9B8-A5A7432DC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4A20DB7D-147F-917C-635C-158DCEF7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844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FB26BC03-A5F9-A16D-B1E6-797581C7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1DDE0423-D57E-D16B-C849-484F56664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3E26D272-4331-FBA3-C8F8-41816E1DF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4977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8D870DB0-5ACD-0923-0897-B222FBC3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BA4E45E8-DE2F-EFFF-E6AD-C800098DD0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9D8B5E4F-5C13-F70F-E6F7-794140613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433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1E66F26E-617E-E6DC-552A-B2BF9E86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08D3840A-AD6B-9A03-C2F5-FB2D5949A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3E877320-A9BC-59C8-D0DD-5011B681E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060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A4215919-D79F-0024-7D0A-5197FE84E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3EFFD70C-010B-CAF1-6092-BB4DACE31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2E20AA0E-EB1D-ECD0-A69F-018AF8C9B7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807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A55B438A-00F4-5C32-3659-25BBFC0F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90022505-AF03-ED4C-F82C-3DD506D798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D30E486E-3804-9FED-0745-BD69C5AA9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40628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EE89193E-E0CB-637A-640A-66D8806C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1B1C53F9-D216-AF30-9D90-3CE5C3F5C1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AD5CC7D1-73B8-9B86-31F0-7CD64D34A2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736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9FB8F7E4-E04B-5968-1614-332D4E1E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B3BCB9D7-6AAD-3261-B5DD-59E74FDEA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2094EF19-D6D7-3439-0ADA-5E5CB1E071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3387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3BA71C38-EFAD-1F7D-BA43-FB259700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13dfeee943_0_23:notes">
            <a:extLst>
              <a:ext uri="{FF2B5EF4-FFF2-40B4-BE49-F238E27FC236}">
                <a16:creationId xmlns:a16="http://schemas.microsoft.com/office/drawing/2014/main" id="{5504490B-C716-18C2-0246-174ABBFE79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113dfeee943_0_23:notes">
            <a:extLst>
              <a:ext uri="{FF2B5EF4-FFF2-40B4-BE49-F238E27FC236}">
                <a16:creationId xmlns:a16="http://schemas.microsoft.com/office/drawing/2014/main" id="{87205CE5-B6BB-64A4-BFF6-14E4EC058A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7213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47625DF0-CF67-3065-4500-100C30E4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54dda1946d_4_2679:notes">
            <a:extLst>
              <a:ext uri="{FF2B5EF4-FFF2-40B4-BE49-F238E27FC236}">
                <a16:creationId xmlns:a16="http://schemas.microsoft.com/office/drawing/2014/main" id="{F71025B5-26E9-EE10-F644-8DA0EA50C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54dda1946d_4_2679:notes">
            <a:extLst>
              <a:ext uri="{FF2B5EF4-FFF2-40B4-BE49-F238E27FC236}">
                <a16:creationId xmlns:a16="http://schemas.microsoft.com/office/drawing/2014/main" id="{C1069CDD-F2DA-1F61-8E71-75BBF16CE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2046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833D83F1-0B58-8757-29AD-DEA87E251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54dda1946d_4_2679:notes">
            <a:extLst>
              <a:ext uri="{FF2B5EF4-FFF2-40B4-BE49-F238E27FC236}">
                <a16:creationId xmlns:a16="http://schemas.microsoft.com/office/drawing/2014/main" id="{9DEE7879-5041-1C38-2CD9-FF0817522A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54dda1946d_4_2679:notes">
            <a:extLst>
              <a:ext uri="{FF2B5EF4-FFF2-40B4-BE49-F238E27FC236}">
                <a16:creationId xmlns:a16="http://schemas.microsoft.com/office/drawing/2014/main" id="{E0B9D58D-6BFB-3017-A2DE-8473DFC7D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5507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>
          <a:extLst>
            <a:ext uri="{FF2B5EF4-FFF2-40B4-BE49-F238E27FC236}">
              <a16:creationId xmlns:a16="http://schemas.microsoft.com/office/drawing/2014/main" id="{2E3E74DD-D23B-8B8E-0E79-37011986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54dda1946d_4_2679:notes">
            <a:extLst>
              <a:ext uri="{FF2B5EF4-FFF2-40B4-BE49-F238E27FC236}">
                <a16:creationId xmlns:a16="http://schemas.microsoft.com/office/drawing/2014/main" id="{BCB8D8B2-311E-4C2C-61D1-CC4A35459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54dda1946d_4_2679:notes">
            <a:extLst>
              <a:ext uri="{FF2B5EF4-FFF2-40B4-BE49-F238E27FC236}">
                <a16:creationId xmlns:a16="http://schemas.microsoft.com/office/drawing/2014/main" id="{138E4A22-C3E9-E8B7-E02A-436534E082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68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2312325" y="3532875"/>
            <a:ext cx="58536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1"/>
          </p:nvPr>
        </p:nvSpPr>
        <p:spPr>
          <a:xfrm>
            <a:off x="2312275" y="1078725"/>
            <a:ext cx="5853600" cy="234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99" name="Google Shape;99;p14"/>
          <p:cNvGrpSpPr/>
          <p:nvPr/>
        </p:nvGrpSpPr>
        <p:grpSpPr>
          <a:xfrm>
            <a:off x="-3284446" y="334071"/>
            <a:ext cx="5348400" cy="2153758"/>
            <a:chOff x="-3284446" y="334071"/>
            <a:chExt cx="5348400" cy="2153758"/>
          </a:xfrm>
        </p:grpSpPr>
        <p:sp>
          <p:nvSpPr>
            <p:cNvPr id="100" name="Google Shape;100;p14"/>
            <p:cNvSpPr/>
            <p:nvPr/>
          </p:nvSpPr>
          <p:spPr>
            <a:xfrm rot="5400000" flipH="1">
              <a:off x="1474729" y="1719229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 rot="5400000" flipH="1">
              <a:off x="-1240246" y="-1710129"/>
              <a:ext cx="1260000" cy="53484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 rot="5400000" flipH="1">
              <a:off x="-1240233" y="4129"/>
              <a:ext cx="1260000" cy="37074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2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" name="Google Shape;137;p20"/>
          <p:cNvGrpSpPr/>
          <p:nvPr/>
        </p:nvGrpSpPr>
        <p:grpSpPr>
          <a:xfrm flipH="1">
            <a:off x="-822466" y="-3825506"/>
            <a:ext cx="9983475" cy="8969006"/>
            <a:chOff x="-22300" y="-3825506"/>
            <a:chExt cx="9983475" cy="8969006"/>
          </a:xfrm>
        </p:grpSpPr>
        <p:sp>
          <p:nvSpPr>
            <p:cNvPr id="138" name="Google Shape;138;p20"/>
            <p:cNvSpPr/>
            <p:nvPr/>
          </p:nvSpPr>
          <p:spPr>
            <a:xfrm flipH="1">
              <a:off x="8312375" y="-678400"/>
              <a:ext cx="1648800" cy="164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 rot="5400000" flipH="1">
              <a:off x="-27100" y="4612200"/>
              <a:ext cx="536100" cy="526500"/>
            </a:xfrm>
            <a:prstGeom prst="round1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0" name="Google Shape;140;p20"/>
            <p:cNvSpPr/>
            <p:nvPr/>
          </p:nvSpPr>
          <p:spPr>
            <a:xfrm flipH="1">
              <a:off x="171200" y="4469010"/>
              <a:ext cx="526500" cy="526500"/>
            </a:xfrm>
            <a:prstGeom prst="ellipse">
              <a:avLst/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7819550" y="-3825506"/>
              <a:ext cx="1483500" cy="4365000"/>
            </a:xfrm>
            <a:prstGeom prst="roundRect">
              <a:avLst>
                <a:gd name="adj" fmla="val 50000"/>
              </a:avLst>
            </a:prstGeom>
            <a:solidFill>
              <a:srgbClr val="F6F6F6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21"/>
          <p:cNvGrpSpPr/>
          <p:nvPr/>
        </p:nvGrpSpPr>
        <p:grpSpPr>
          <a:xfrm>
            <a:off x="-107146" y="-909126"/>
            <a:ext cx="9417818" cy="8992626"/>
            <a:chOff x="-107146" y="-909126"/>
            <a:chExt cx="9417818" cy="8992626"/>
          </a:xfrm>
        </p:grpSpPr>
        <p:sp>
          <p:nvSpPr>
            <p:cNvPr id="145" name="Google Shape;145;p21"/>
            <p:cNvSpPr/>
            <p:nvPr/>
          </p:nvSpPr>
          <p:spPr>
            <a:xfrm rot="10800000" flipH="1">
              <a:off x="8519272" y="3954900"/>
              <a:ext cx="791400" cy="4128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6" name="Google Shape;146;p21"/>
            <p:cNvSpPr/>
            <p:nvPr/>
          </p:nvSpPr>
          <p:spPr>
            <a:xfrm rot="10800000" flipH="1">
              <a:off x="7958000" y="4588140"/>
              <a:ext cx="791400" cy="2862000"/>
            </a:xfrm>
            <a:prstGeom prst="roundRect">
              <a:avLst>
                <a:gd name="adj" fmla="val 50000"/>
              </a:avLst>
            </a:prstGeom>
            <a:solidFill>
              <a:srgbClr val="0584A4">
                <a:alpha val="406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grpSp>
          <p:nvGrpSpPr>
            <p:cNvPr id="147" name="Google Shape;147;p21"/>
            <p:cNvGrpSpPr/>
            <p:nvPr/>
          </p:nvGrpSpPr>
          <p:grpSpPr>
            <a:xfrm rot="5400000">
              <a:off x="-544100" y="-472171"/>
              <a:ext cx="1828500" cy="954591"/>
              <a:chOff x="-1253563" y="3992679"/>
              <a:chExt cx="1828500" cy="954591"/>
            </a:xfrm>
          </p:grpSpPr>
          <p:sp>
            <p:nvSpPr>
              <p:cNvPr id="148" name="Google Shape;148;p21"/>
              <p:cNvSpPr/>
              <p:nvPr/>
            </p:nvSpPr>
            <p:spPr>
              <a:xfrm rot="5400000" flipH="1">
                <a:off x="-119071" y="3992679"/>
                <a:ext cx="277200" cy="2772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149" name="Google Shape;149;p21"/>
              <p:cNvSpPr/>
              <p:nvPr/>
            </p:nvSpPr>
            <p:spPr>
              <a:xfrm rot="5400000">
                <a:off x="-678013" y="3694320"/>
                <a:ext cx="677400" cy="1828500"/>
              </a:xfrm>
              <a:prstGeom prst="roundRect">
                <a:avLst>
                  <a:gd name="adj" fmla="val 50000"/>
                </a:avLst>
              </a:prstGeom>
              <a:solidFill>
                <a:srgbClr val="F2557A">
                  <a:alpha val="65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/>
          <p:nvPr/>
        </p:nvSpPr>
        <p:spPr>
          <a:xfrm flipH="1">
            <a:off x="8312375" y="-678400"/>
            <a:ext cx="1648800" cy="16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2" name="Google Shape;242;p29"/>
          <p:cNvSpPr/>
          <p:nvPr/>
        </p:nvSpPr>
        <p:spPr>
          <a:xfrm rot="5400000" flipH="1">
            <a:off x="-27100" y="4612200"/>
            <a:ext cx="536100" cy="5265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3" name="Google Shape;243;p29"/>
          <p:cNvSpPr/>
          <p:nvPr/>
        </p:nvSpPr>
        <p:spPr>
          <a:xfrm flipH="1">
            <a:off x="171200" y="4469010"/>
            <a:ext cx="526500" cy="526500"/>
          </a:xfrm>
          <a:prstGeom prst="ellipse">
            <a:avLst/>
          </a:prstGeom>
          <a:solidFill>
            <a:srgbClr val="0584A4">
              <a:alpha val="31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7819550" y="-3825506"/>
            <a:ext cx="1483500" cy="4365000"/>
          </a:xfrm>
          <a:prstGeom prst="roundRect">
            <a:avLst>
              <a:gd name="adj" fmla="val 50000"/>
            </a:avLst>
          </a:prstGeom>
          <a:solidFill>
            <a:srgbClr val="FFFFFF">
              <a:alpha val="412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30"/>
          <p:cNvGrpSpPr/>
          <p:nvPr/>
        </p:nvGrpSpPr>
        <p:grpSpPr>
          <a:xfrm>
            <a:off x="-363114" y="-686855"/>
            <a:ext cx="9835298" cy="6115780"/>
            <a:chOff x="-363114" y="-686855"/>
            <a:chExt cx="9835298" cy="6115780"/>
          </a:xfrm>
        </p:grpSpPr>
        <p:sp>
          <p:nvSpPr>
            <p:cNvPr id="247" name="Google Shape;247;p30"/>
            <p:cNvSpPr/>
            <p:nvPr/>
          </p:nvSpPr>
          <p:spPr>
            <a:xfrm flipH="1">
              <a:off x="8812484" y="4331375"/>
              <a:ext cx="277200" cy="27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10800000" flipH="1">
              <a:off x="-173878" y="-686855"/>
              <a:ext cx="677400" cy="1828500"/>
            </a:xfrm>
            <a:prstGeom prst="roundRect">
              <a:avLst>
                <a:gd name="adj" fmla="val 50000"/>
              </a:avLst>
            </a:prstGeom>
            <a:solidFill>
              <a:srgbClr val="74CEC4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flipH="1">
              <a:off x="-363114" y="781582"/>
              <a:ext cx="698700" cy="698700"/>
            </a:xfrm>
            <a:prstGeom prst="chord">
              <a:avLst>
                <a:gd name="adj1" fmla="val 5399387"/>
                <a:gd name="adj2" fmla="val 1620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flipH="1">
              <a:off x="8812484" y="4769225"/>
              <a:ext cx="659700" cy="659700"/>
            </a:xfrm>
            <a:prstGeom prst="ellipse">
              <a:avLst/>
            </a:prstGeom>
            <a:solidFill>
              <a:srgbClr val="EE325F">
                <a:alpha val="71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60" r:id="rId3"/>
    <p:sldLayoutId id="2147483666" r:id="rId4"/>
    <p:sldLayoutId id="2147483667" r:id="rId5"/>
    <p:sldLayoutId id="2147483675" r:id="rId6"/>
    <p:sldLayoutId id="214748367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/>
          <p:nvPr/>
        </p:nvSpPr>
        <p:spPr>
          <a:xfrm rot="5400000">
            <a:off x="8989862" y="2884570"/>
            <a:ext cx="677400" cy="1828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169596-22AF-8A66-6EE6-7DA8FC98ED42}"/>
              </a:ext>
            </a:extLst>
          </p:cNvPr>
          <p:cNvSpPr/>
          <p:nvPr/>
        </p:nvSpPr>
        <p:spPr>
          <a:xfrm>
            <a:off x="1249082" y="1851555"/>
            <a:ext cx="5259294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3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Compiler für Arithmetische Ausdrucke</a:t>
            </a:r>
            <a:endParaRPr lang="fr-FR" sz="32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628870-955A-0114-DD58-764A8359B2A4}"/>
              </a:ext>
            </a:extLst>
          </p:cNvPr>
          <p:cNvSpPr/>
          <p:nvPr/>
        </p:nvSpPr>
        <p:spPr>
          <a:xfrm>
            <a:off x="1510136" y="4070367"/>
            <a:ext cx="1569660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1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Kalil SACKO</a:t>
            </a:r>
            <a:endParaRPr lang="fr-FR" sz="18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2"/>
          <p:cNvSpPr txBox="1">
            <a:spLocks noGrp="1"/>
          </p:cNvSpPr>
          <p:nvPr>
            <p:ph type="title"/>
          </p:nvPr>
        </p:nvSpPr>
        <p:spPr>
          <a:xfrm>
            <a:off x="588518" y="100730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cxnSp>
        <p:nvCxnSpPr>
          <p:cNvPr id="494" name="Google Shape;494;p52"/>
          <p:cNvCxnSpPr>
            <a:cxnSpLocks/>
          </p:cNvCxnSpPr>
          <p:nvPr/>
        </p:nvCxnSpPr>
        <p:spPr>
          <a:xfrm flipV="1">
            <a:off x="1110184" y="1162992"/>
            <a:ext cx="600300" cy="1735331"/>
          </a:xfrm>
          <a:prstGeom prst="bentConnector5">
            <a:avLst>
              <a:gd name="adj1" fmla="val 54010"/>
              <a:gd name="adj2" fmla="val 31747"/>
              <a:gd name="adj3" fmla="val 53954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97" name="Google Shape;497;p52"/>
          <p:cNvCxnSpPr>
            <a:cxnSpLocks/>
            <a:stCxn id="495" idx="2"/>
            <a:endCxn id="498" idx="1"/>
          </p:cNvCxnSpPr>
          <p:nvPr/>
        </p:nvCxnSpPr>
        <p:spPr>
          <a:xfrm>
            <a:off x="1135913" y="2880238"/>
            <a:ext cx="600300" cy="13287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99" name="Google Shape;499;p52"/>
          <p:cNvCxnSpPr>
            <a:cxnSpLocks/>
            <a:stCxn id="495" idx="2"/>
            <a:endCxn id="500" idx="1"/>
          </p:cNvCxnSpPr>
          <p:nvPr/>
        </p:nvCxnSpPr>
        <p:spPr>
          <a:xfrm flipV="1">
            <a:off x="1135913" y="2226993"/>
            <a:ext cx="581552" cy="653245"/>
          </a:xfrm>
          <a:prstGeom prst="bentConnector5">
            <a:avLst>
              <a:gd name="adj1" fmla="val 51641"/>
              <a:gd name="adj2" fmla="val 50000"/>
              <a:gd name="adj3" fmla="val 5144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1" name="Google Shape;501;p52"/>
          <p:cNvCxnSpPr>
            <a:cxnSpLocks/>
            <a:endCxn id="502" idx="1"/>
          </p:cNvCxnSpPr>
          <p:nvPr/>
        </p:nvCxnSpPr>
        <p:spPr>
          <a:xfrm>
            <a:off x="1135821" y="2890400"/>
            <a:ext cx="600483" cy="43275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95" name="Google Shape;495;p52"/>
          <p:cNvSpPr/>
          <p:nvPr/>
        </p:nvSpPr>
        <p:spPr>
          <a:xfrm rot="-5400000">
            <a:off x="-150487" y="2668888"/>
            <a:ext cx="21501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Compiler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6" name="Google Shape;496;p52"/>
          <p:cNvSpPr/>
          <p:nvPr/>
        </p:nvSpPr>
        <p:spPr>
          <a:xfrm>
            <a:off x="1736213" y="933557"/>
            <a:ext cx="28356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Anforderungen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p52"/>
          <p:cNvSpPr/>
          <p:nvPr/>
        </p:nvSpPr>
        <p:spPr>
          <a:xfrm>
            <a:off x="1717465" y="2015643"/>
            <a:ext cx="28356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Kernbestandteile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2" name="Google Shape;502;p52"/>
          <p:cNvSpPr/>
          <p:nvPr/>
        </p:nvSpPr>
        <p:spPr>
          <a:xfrm>
            <a:off x="1736304" y="3111800"/>
            <a:ext cx="28356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Live -Demo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8" name="Google Shape;498;p52"/>
          <p:cNvSpPr/>
          <p:nvPr/>
        </p:nvSpPr>
        <p:spPr>
          <a:xfrm>
            <a:off x="1736304" y="3997625"/>
            <a:ext cx="2835600" cy="422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Fazit</a:t>
            </a:r>
            <a:endParaRPr sz="20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06" name="Google Shape;506;p52"/>
          <p:cNvCxnSpPr>
            <a:cxnSpLocks/>
          </p:cNvCxnSpPr>
          <p:nvPr/>
        </p:nvCxnSpPr>
        <p:spPr>
          <a:xfrm flipV="1">
            <a:off x="4535137" y="1919147"/>
            <a:ext cx="763285" cy="2480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07" name="Google Shape;507;p52"/>
          <p:cNvCxnSpPr>
            <a:cxnSpLocks/>
          </p:cNvCxnSpPr>
          <p:nvPr/>
        </p:nvCxnSpPr>
        <p:spPr>
          <a:xfrm flipV="1">
            <a:off x="4491318" y="1600200"/>
            <a:ext cx="805117" cy="5001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506;p52">
            <a:extLst>
              <a:ext uri="{FF2B5EF4-FFF2-40B4-BE49-F238E27FC236}">
                <a16:creationId xmlns:a16="http://schemas.microsoft.com/office/drawing/2014/main" id="{FB85108A-B086-A71C-5EF1-C3E56FD67E54}"/>
              </a:ext>
            </a:extLst>
          </p:cNvPr>
          <p:cNvCxnSpPr>
            <a:cxnSpLocks/>
          </p:cNvCxnSpPr>
          <p:nvPr/>
        </p:nvCxnSpPr>
        <p:spPr>
          <a:xfrm>
            <a:off x="4535137" y="2286753"/>
            <a:ext cx="761298" cy="33011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" name="Google Shape;506;p52">
            <a:extLst>
              <a:ext uri="{FF2B5EF4-FFF2-40B4-BE49-F238E27FC236}">
                <a16:creationId xmlns:a16="http://schemas.microsoft.com/office/drawing/2014/main" id="{85288972-B481-8D9F-800A-4412CC6E4900}"/>
              </a:ext>
            </a:extLst>
          </p:cNvPr>
          <p:cNvCxnSpPr>
            <a:cxnSpLocks/>
            <a:stCxn id="500" idx="3"/>
          </p:cNvCxnSpPr>
          <p:nvPr/>
        </p:nvCxnSpPr>
        <p:spPr>
          <a:xfrm>
            <a:off x="4553065" y="2226993"/>
            <a:ext cx="743370" cy="597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4" name="Google Shape;506;p52">
            <a:extLst>
              <a:ext uri="{FF2B5EF4-FFF2-40B4-BE49-F238E27FC236}">
                <a16:creationId xmlns:a16="http://schemas.microsoft.com/office/drawing/2014/main" id="{ADFDC075-C89A-DE84-125C-6D2E841C059C}"/>
              </a:ext>
            </a:extLst>
          </p:cNvPr>
          <p:cNvCxnSpPr>
            <a:cxnSpLocks/>
          </p:cNvCxnSpPr>
          <p:nvPr/>
        </p:nvCxnSpPr>
        <p:spPr>
          <a:xfrm>
            <a:off x="4493305" y="2364811"/>
            <a:ext cx="805117" cy="6114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56" name="Flèche : pentagone 455">
            <a:extLst>
              <a:ext uri="{FF2B5EF4-FFF2-40B4-BE49-F238E27FC236}">
                <a16:creationId xmlns:a16="http://schemas.microsoft.com/office/drawing/2014/main" id="{FD9A3121-8037-66B1-E2E9-1E02F3EAD276}"/>
              </a:ext>
            </a:extLst>
          </p:cNvPr>
          <p:cNvSpPr/>
          <p:nvPr/>
        </p:nvSpPr>
        <p:spPr>
          <a:xfrm>
            <a:off x="5390147" y="1472101"/>
            <a:ext cx="685800" cy="222585"/>
          </a:xfrm>
          <a:prstGeom prst="homePlat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Lexer</a:t>
            </a:r>
          </a:p>
        </p:txBody>
      </p:sp>
      <p:sp>
        <p:nvSpPr>
          <p:cNvPr id="457" name="Flèche : pentagone 456">
            <a:extLst>
              <a:ext uri="{FF2B5EF4-FFF2-40B4-BE49-F238E27FC236}">
                <a16:creationId xmlns:a16="http://schemas.microsoft.com/office/drawing/2014/main" id="{9D6FD197-ACB1-A0F3-46D9-04BE5E341DD8}"/>
              </a:ext>
            </a:extLst>
          </p:cNvPr>
          <p:cNvSpPr/>
          <p:nvPr/>
        </p:nvSpPr>
        <p:spPr>
          <a:xfrm>
            <a:off x="5390147" y="1809024"/>
            <a:ext cx="807104" cy="222585"/>
          </a:xfrm>
          <a:prstGeom prst="homePlat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Parser</a:t>
            </a:r>
          </a:p>
        </p:txBody>
      </p:sp>
      <p:sp>
        <p:nvSpPr>
          <p:cNvPr id="458" name="Flèche : pentagone 457">
            <a:extLst>
              <a:ext uri="{FF2B5EF4-FFF2-40B4-BE49-F238E27FC236}">
                <a16:creationId xmlns:a16="http://schemas.microsoft.com/office/drawing/2014/main" id="{456BE6A2-0D72-3F28-483E-8C9A4BAC902D}"/>
              </a:ext>
            </a:extLst>
          </p:cNvPr>
          <p:cNvSpPr/>
          <p:nvPr/>
        </p:nvSpPr>
        <p:spPr>
          <a:xfrm>
            <a:off x="5391635" y="2152196"/>
            <a:ext cx="2410844" cy="222585"/>
          </a:xfrm>
          <a:prstGeom prst="homePlat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Abstrakter Syntaxbaum</a:t>
            </a:r>
          </a:p>
        </p:txBody>
      </p:sp>
      <p:sp>
        <p:nvSpPr>
          <p:cNvPr id="459" name="Flèche : pentagone 458">
            <a:extLst>
              <a:ext uri="{FF2B5EF4-FFF2-40B4-BE49-F238E27FC236}">
                <a16:creationId xmlns:a16="http://schemas.microsoft.com/office/drawing/2014/main" id="{16D1AA38-DD2E-4655-5296-0A2B2D3001E4}"/>
              </a:ext>
            </a:extLst>
          </p:cNvPr>
          <p:cNvSpPr/>
          <p:nvPr/>
        </p:nvSpPr>
        <p:spPr>
          <a:xfrm>
            <a:off x="5390147" y="2501384"/>
            <a:ext cx="1780674" cy="222585"/>
          </a:xfrm>
          <a:prstGeom prst="homePlat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Zwischencode</a:t>
            </a:r>
          </a:p>
        </p:txBody>
      </p:sp>
      <p:sp>
        <p:nvSpPr>
          <p:cNvPr id="460" name="Flèche : pentagone 459">
            <a:extLst>
              <a:ext uri="{FF2B5EF4-FFF2-40B4-BE49-F238E27FC236}">
                <a16:creationId xmlns:a16="http://schemas.microsoft.com/office/drawing/2014/main" id="{C0D87371-6E73-E94A-50B3-9548AD49668F}"/>
              </a:ext>
            </a:extLst>
          </p:cNvPr>
          <p:cNvSpPr/>
          <p:nvPr/>
        </p:nvSpPr>
        <p:spPr>
          <a:xfrm>
            <a:off x="5390146" y="2861120"/>
            <a:ext cx="2129591" cy="222585"/>
          </a:xfrm>
          <a:prstGeom prst="homePlat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Abstraktkellermachine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/>
          <p:cNvSpPr txBox="1">
            <a:spLocks noGrp="1"/>
          </p:cNvSpPr>
          <p:nvPr>
            <p:ph type="title"/>
          </p:nvPr>
        </p:nvSpPr>
        <p:spPr>
          <a:xfrm>
            <a:off x="1775010" y="235849"/>
            <a:ext cx="50293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Anforderungen</a:t>
            </a:r>
            <a:endParaRPr dirty="0"/>
          </a:p>
        </p:txBody>
      </p:sp>
      <p:sp>
        <p:nvSpPr>
          <p:cNvPr id="8" name="Google Shape;308;p15">
            <a:extLst>
              <a:ext uri="{FF2B5EF4-FFF2-40B4-BE49-F238E27FC236}">
                <a16:creationId xmlns:a16="http://schemas.microsoft.com/office/drawing/2014/main" id="{5B991C5D-FE0C-3880-450A-5C813222589B}"/>
              </a:ext>
            </a:extLst>
          </p:cNvPr>
          <p:cNvSpPr/>
          <p:nvPr/>
        </p:nvSpPr>
        <p:spPr>
          <a:xfrm>
            <a:off x="1416524" y="1482173"/>
            <a:ext cx="6310951" cy="58353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4F1A8D-D51C-947E-7B91-A032CB905F9A}"/>
              </a:ext>
            </a:extLst>
          </p:cNvPr>
          <p:cNvSpPr/>
          <p:nvPr/>
        </p:nvSpPr>
        <p:spPr>
          <a:xfrm>
            <a:off x="1419528" y="1482173"/>
            <a:ext cx="739942" cy="58353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01</a:t>
            </a:r>
          </a:p>
        </p:txBody>
      </p:sp>
      <p:sp>
        <p:nvSpPr>
          <p:cNvPr id="20" name="Flèche : pentagone 19">
            <a:extLst>
              <a:ext uri="{FF2B5EF4-FFF2-40B4-BE49-F238E27FC236}">
                <a16:creationId xmlns:a16="http://schemas.microsoft.com/office/drawing/2014/main" id="{0EDC0388-A0B5-0F63-7062-C3EF9F5100DE}"/>
              </a:ext>
            </a:extLst>
          </p:cNvPr>
          <p:cNvSpPr/>
          <p:nvPr/>
        </p:nvSpPr>
        <p:spPr>
          <a:xfrm>
            <a:off x="2162530" y="1482173"/>
            <a:ext cx="2406316" cy="58353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6FFF719-2234-2095-C6CE-9737A1DA30B5}"/>
              </a:ext>
            </a:extLst>
          </p:cNvPr>
          <p:cNvSpPr txBox="1"/>
          <p:nvPr/>
        </p:nvSpPr>
        <p:spPr>
          <a:xfrm>
            <a:off x="4917147" y="1567717"/>
            <a:ext cx="2484000" cy="39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   Eingabe als Mathematische Ausdrücke</a:t>
            </a:r>
          </a:p>
          <a:p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   Ausgabe als ganze Dezimalzahl</a:t>
            </a:r>
          </a:p>
          <a:p>
            <a:endParaRPr lang="fr-FR" sz="1000" dirty="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D20CE8F-F756-46A5-205F-6FCA1855B1FE}"/>
              </a:ext>
            </a:extLst>
          </p:cNvPr>
          <p:cNvSpPr txBox="1"/>
          <p:nvPr/>
        </p:nvSpPr>
        <p:spPr>
          <a:xfrm>
            <a:off x="2147087" y="1543852"/>
            <a:ext cx="2556711" cy="434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Evaluierung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mathematischer Ausdrücken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9D33656-C8A5-E3D5-5D2E-5181782F2374}"/>
              </a:ext>
            </a:extLst>
          </p:cNvPr>
          <p:cNvSpPr/>
          <p:nvPr/>
        </p:nvSpPr>
        <p:spPr>
          <a:xfrm>
            <a:off x="4833140" y="1639573"/>
            <a:ext cx="78136" cy="781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5D16DEA-EAB8-DB9B-569F-C9E38CD81E73}"/>
              </a:ext>
            </a:extLst>
          </p:cNvPr>
          <p:cNvSpPr/>
          <p:nvPr/>
        </p:nvSpPr>
        <p:spPr>
          <a:xfrm>
            <a:off x="4833140" y="1804573"/>
            <a:ext cx="78136" cy="781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Google Shape;308;p15">
            <a:extLst>
              <a:ext uri="{FF2B5EF4-FFF2-40B4-BE49-F238E27FC236}">
                <a16:creationId xmlns:a16="http://schemas.microsoft.com/office/drawing/2014/main" id="{53847B80-A782-E50F-3836-485C023E6DB6}"/>
              </a:ext>
            </a:extLst>
          </p:cNvPr>
          <p:cNvSpPr/>
          <p:nvPr/>
        </p:nvSpPr>
        <p:spPr>
          <a:xfrm>
            <a:off x="1416524" y="2086693"/>
            <a:ext cx="6310951" cy="58353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56561A-E44E-E208-F21A-A0811A79F714}"/>
              </a:ext>
            </a:extLst>
          </p:cNvPr>
          <p:cNvSpPr/>
          <p:nvPr/>
        </p:nvSpPr>
        <p:spPr>
          <a:xfrm>
            <a:off x="1419528" y="2086693"/>
            <a:ext cx="739942" cy="58353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02</a:t>
            </a:r>
          </a:p>
        </p:txBody>
      </p:sp>
      <p:sp>
        <p:nvSpPr>
          <p:cNvPr id="28" name="Flèche : pentagone 27">
            <a:extLst>
              <a:ext uri="{FF2B5EF4-FFF2-40B4-BE49-F238E27FC236}">
                <a16:creationId xmlns:a16="http://schemas.microsoft.com/office/drawing/2014/main" id="{7291DDFA-47B9-291C-13A4-B94AB81ACD34}"/>
              </a:ext>
            </a:extLst>
          </p:cNvPr>
          <p:cNvSpPr/>
          <p:nvPr/>
        </p:nvSpPr>
        <p:spPr>
          <a:xfrm>
            <a:off x="2162530" y="2086693"/>
            <a:ext cx="2406316" cy="58353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896F031-FE48-D5A3-09A4-59F3F5F9AC8F}"/>
              </a:ext>
            </a:extLst>
          </p:cNvPr>
          <p:cNvSpPr txBox="1"/>
          <p:nvPr/>
        </p:nvSpPr>
        <p:spPr>
          <a:xfrm>
            <a:off x="4917146" y="2172236"/>
            <a:ext cx="2763233" cy="39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   5 Kernbestandteile mit klar definierte Scan- </a:t>
            </a:r>
            <a:b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   und Parseregeln</a:t>
            </a:r>
          </a:p>
          <a:p>
            <a:endParaRPr lang="fr-FR" sz="1000" dirty="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fr-FR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68A3E34-FED5-4002-5B2A-503C0DE7F071}"/>
              </a:ext>
            </a:extLst>
          </p:cNvPr>
          <p:cNvSpPr txBox="1"/>
          <p:nvPr/>
        </p:nvSpPr>
        <p:spPr>
          <a:xfrm>
            <a:off x="2147087" y="2221302"/>
            <a:ext cx="2066427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Compiler Entwurf in Python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C26E2A86-9809-6D51-821C-184310CD4DA4}"/>
              </a:ext>
            </a:extLst>
          </p:cNvPr>
          <p:cNvSpPr/>
          <p:nvPr/>
        </p:nvSpPr>
        <p:spPr>
          <a:xfrm>
            <a:off x="4833140" y="2244092"/>
            <a:ext cx="78136" cy="781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Google Shape;308;p15">
            <a:extLst>
              <a:ext uri="{FF2B5EF4-FFF2-40B4-BE49-F238E27FC236}">
                <a16:creationId xmlns:a16="http://schemas.microsoft.com/office/drawing/2014/main" id="{444F0298-3715-9E1A-21FE-C94B534C04A9}"/>
              </a:ext>
            </a:extLst>
          </p:cNvPr>
          <p:cNvSpPr/>
          <p:nvPr/>
        </p:nvSpPr>
        <p:spPr>
          <a:xfrm>
            <a:off x="1416524" y="2691213"/>
            <a:ext cx="6310951" cy="58353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C151DB-EF96-9F3E-FDB6-3F4E98C5F8F6}"/>
              </a:ext>
            </a:extLst>
          </p:cNvPr>
          <p:cNvSpPr/>
          <p:nvPr/>
        </p:nvSpPr>
        <p:spPr>
          <a:xfrm>
            <a:off x="1419528" y="2691213"/>
            <a:ext cx="739942" cy="58353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03</a:t>
            </a:r>
          </a:p>
        </p:txBody>
      </p:sp>
      <p:sp>
        <p:nvSpPr>
          <p:cNvPr id="35" name="Flèche : pentagone 34">
            <a:extLst>
              <a:ext uri="{FF2B5EF4-FFF2-40B4-BE49-F238E27FC236}">
                <a16:creationId xmlns:a16="http://schemas.microsoft.com/office/drawing/2014/main" id="{FBEBDD91-AA8B-1F8E-D6B1-0E0C771AC920}"/>
              </a:ext>
            </a:extLst>
          </p:cNvPr>
          <p:cNvSpPr/>
          <p:nvPr/>
        </p:nvSpPr>
        <p:spPr>
          <a:xfrm>
            <a:off x="2162530" y="2691213"/>
            <a:ext cx="2406316" cy="58353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0456B9B-E33F-917E-5C4C-7908F53C1EE8}"/>
              </a:ext>
            </a:extLst>
          </p:cNvPr>
          <p:cNvSpPr txBox="1"/>
          <p:nvPr/>
        </p:nvSpPr>
        <p:spPr>
          <a:xfrm>
            <a:off x="5017080" y="2771147"/>
            <a:ext cx="2663299" cy="39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Eingabe über .txt-</a:t>
            </a:r>
            <a:r>
              <a:rPr lang="fr-FR" sz="1000" dirty="0" err="1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Datei</a:t>
            </a:r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, die beim Ausführen des Compilers ausgewertet wird</a:t>
            </a:r>
          </a:p>
          <a:p>
            <a:endParaRPr lang="fr-FR" sz="1000" dirty="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fr-FR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39F2B8A-0A0B-99B8-B090-084E705CA768}"/>
              </a:ext>
            </a:extLst>
          </p:cNvPr>
          <p:cNvSpPr txBox="1"/>
          <p:nvPr/>
        </p:nvSpPr>
        <p:spPr>
          <a:xfrm>
            <a:off x="2147087" y="2752892"/>
            <a:ext cx="2556711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Compiler-Input als Datei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D8329CC5-72EE-FBFE-9A28-B920A175ECBC}"/>
              </a:ext>
            </a:extLst>
          </p:cNvPr>
          <p:cNvSpPr/>
          <p:nvPr/>
        </p:nvSpPr>
        <p:spPr>
          <a:xfrm>
            <a:off x="4833140" y="2848613"/>
            <a:ext cx="78136" cy="781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Google Shape;308;p15">
            <a:extLst>
              <a:ext uri="{FF2B5EF4-FFF2-40B4-BE49-F238E27FC236}">
                <a16:creationId xmlns:a16="http://schemas.microsoft.com/office/drawing/2014/main" id="{AC3ED999-A2C7-BE16-B830-4A03EBC85A9C}"/>
              </a:ext>
            </a:extLst>
          </p:cNvPr>
          <p:cNvSpPr/>
          <p:nvPr/>
        </p:nvSpPr>
        <p:spPr>
          <a:xfrm>
            <a:off x="1416524" y="3296404"/>
            <a:ext cx="6310951" cy="58353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29A62D6-6E94-B016-CAE5-9BD65BD7CC0A}"/>
              </a:ext>
            </a:extLst>
          </p:cNvPr>
          <p:cNvSpPr/>
          <p:nvPr/>
        </p:nvSpPr>
        <p:spPr>
          <a:xfrm>
            <a:off x="1419528" y="3296404"/>
            <a:ext cx="739942" cy="58353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04</a:t>
            </a:r>
          </a:p>
        </p:txBody>
      </p:sp>
      <p:sp>
        <p:nvSpPr>
          <p:cNvPr id="44" name="Flèche : pentagone 43">
            <a:extLst>
              <a:ext uri="{FF2B5EF4-FFF2-40B4-BE49-F238E27FC236}">
                <a16:creationId xmlns:a16="http://schemas.microsoft.com/office/drawing/2014/main" id="{205CE6B8-51A8-6FD1-A933-4304DFC06EC4}"/>
              </a:ext>
            </a:extLst>
          </p:cNvPr>
          <p:cNvSpPr/>
          <p:nvPr/>
        </p:nvSpPr>
        <p:spPr>
          <a:xfrm>
            <a:off x="2162530" y="3296404"/>
            <a:ext cx="2406316" cy="58353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314587-2606-B13F-CF2E-E64B2F729EFB}"/>
              </a:ext>
            </a:extLst>
          </p:cNvPr>
          <p:cNvSpPr txBox="1"/>
          <p:nvPr/>
        </p:nvSpPr>
        <p:spPr>
          <a:xfrm>
            <a:off x="4917147" y="3365118"/>
            <a:ext cx="2484000" cy="43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   Klare Parseregeln</a:t>
            </a:r>
          </a:p>
          <a:p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   Eingebaute syntaktische Analyse</a:t>
            </a:r>
          </a:p>
          <a:p>
            <a:endParaRPr lang="fr-FR" sz="1000" dirty="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fr-FR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4A0A2634-EF7C-DA7D-BB03-02BBAAF22423}"/>
              </a:ext>
            </a:extLst>
          </p:cNvPr>
          <p:cNvSpPr txBox="1"/>
          <p:nvPr/>
        </p:nvSpPr>
        <p:spPr>
          <a:xfrm>
            <a:off x="2147087" y="3442233"/>
            <a:ext cx="2556711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Klare Grammatikregeln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CEFBADC1-60BD-AE0A-4BCC-FA945273A6F5}"/>
              </a:ext>
            </a:extLst>
          </p:cNvPr>
          <p:cNvSpPr/>
          <p:nvPr/>
        </p:nvSpPr>
        <p:spPr>
          <a:xfrm>
            <a:off x="4833140" y="3453804"/>
            <a:ext cx="78136" cy="781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0022546-62D1-D1E9-CC94-B7812E3C20C4}"/>
              </a:ext>
            </a:extLst>
          </p:cNvPr>
          <p:cNvSpPr/>
          <p:nvPr/>
        </p:nvSpPr>
        <p:spPr>
          <a:xfrm>
            <a:off x="4833140" y="3618804"/>
            <a:ext cx="78136" cy="781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Google Shape;308;p15">
            <a:extLst>
              <a:ext uri="{FF2B5EF4-FFF2-40B4-BE49-F238E27FC236}">
                <a16:creationId xmlns:a16="http://schemas.microsoft.com/office/drawing/2014/main" id="{165AAEB1-FF63-F2B1-1648-72E94B1F623F}"/>
              </a:ext>
            </a:extLst>
          </p:cNvPr>
          <p:cNvSpPr/>
          <p:nvPr/>
        </p:nvSpPr>
        <p:spPr>
          <a:xfrm>
            <a:off x="1416524" y="3893620"/>
            <a:ext cx="6310951" cy="58353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74CDDF-89F2-9FC3-D60D-3FE7200B2E0A}"/>
              </a:ext>
            </a:extLst>
          </p:cNvPr>
          <p:cNvSpPr/>
          <p:nvPr/>
        </p:nvSpPr>
        <p:spPr>
          <a:xfrm>
            <a:off x="1419528" y="3893620"/>
            <a:ext cx="739942" cy="58353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05</a:t>
            </a:r>
          </a:p>
        </p:txBody>
      </p:sp>
      <p:sp>
        <p:nvSpPr>
          <p:cNvPr id="51" name="Flèche : pentagone 50">
            <a:extLst>
              <a:ext uri="{FF2B5EF4-FFF2-40B4-BE49-F238E27FC236}">
                <a16:creationId xmlns:a16="http://schemas.microsoft.com/office/drawing/2014/main" id="{58D7E062-D33F-0BA4-7E86-D71A96EDA11D}"/>
              </a:ext>
            </a:extLst>
          </p:cNvPr>
          <p:cNvSpPr/>
          <p:nvPr/>
        </p:nvSpPr>
        <p:spPr>
          <a:xfrm>
            <a:off x="2162530" y="3893620"/>
            <a:ext cx="2406316" cy="583531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F00268D-ADAD-44C6-D107-0FDC598C73D7}"/>
              </a:ext>
            </a:extLst>
          </p:cNvPr>
          <p:cNvSpPr txBox="1"/>
          <p:nvPr/>
        </p:nvSpPr>
        <p:spPr>
          <a:xfrm>
            <a:off x="4917147" y="3979164"/>
            <a:ext cx="2763232" cy="39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   Debugging bei lexikalische, syntaktische</a:t>
            </a:r>
            <a:b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-FR"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   sowie semantische Analyse</a:t>
            </a:r>
          </a:p>
          <a:p>
            <a:endParaRPr lang="fr-FR" sz="1000" dirty="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  <a:p>
            <a:endParaRPr lang="fr-FR" dirty="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BEAE13E-D72D-32DF-D5C8-E9F7A23DE607}"/>
              </a:ext>
            </a:extLst>
          </p:cNvPr>
          <p:cNvSpPr txBox="1"/>
          <p:nvPr/>
        </p:nvSpPr>
        <p:spPr>
          <a:xfrm>
            <a:off x="2147087" y="4050669"/>
            <a:ext cx="2484000" cy="25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Verständliches Debugging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664A742A-47AD-D50A-0467-A576E272B603}"/>
              </a:ext>
            </a:extLst>
          </p:cNvPr>
          <p:cNvSpPr/>
          <p:nvPr/>
        </p:nvSpPr>
        <p:spPr>
          <a:xfrm>
            <a:off x="4833140" y="4051020"/>
            <a:ext cx="78136" cy="7813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C86ED44C-5FBF-5960-FB0F-2E1581794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>
            <a:extLst>
              <a:ext uri="{FF2B5EF4-FFF2-40B4-BE49-F238E27FC236}">
                <a16:creationId xmlns:a16="http://schemas.microsoft.com/office/drawing/2014/main" id="{E4980569-6345-6F4E-A819-6B3C8C668B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317" y="8864"/>
            <a:ext cx="50293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Kompilationsprozess</a:t>
            </a:r>
            <a:endParaRPr dirty="0"/>
          </a:p>
        </p:txBody>
      </p:sp>
      <p:sp>
        <p:nvSpPr>
          <p:cNvPr id="2" name="Google Shape;345;p16">
            <a:extLst>
              <a:ext uri="{FF2B5EF4-FFF2-40B4-BE49-F238E27FC236}">
                <a16:creationId xmlns:a16="http://schemas.microsoft.com/office/drawing/2014/main" id="{2CE9D8D3-1A07-CC65-0336-B3080AA3E488}"/>
              </a:ext>
            </a:extLst>
          </p:cNvPr>
          <p:cNvSpPr/>
          <p:nvPr/>
        </p:nvSpPr>
        <p:spPr>
          <a:xfrm>
            <a:off x="796710" y="1031838"/>
            <a:ext cx="1184700" cy="543600"/>
          </a:xfrm>
          <a:prstGeom prst="roundRect">
            <a:avLst>
              <a:gd name="adj" fmla="val 16667"/>
            </a:avLst>
          </a:prstGeom>
          <a:solidFill>
            <a:schemeClr val="tx1">
              <a:lumMod val="10000"/>
              <a:lumOff val="90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latin typeface="Nunito"/>
                <a:ea typeface="Nunito"/>
                <a:cs typeface="Nunito"/>
                <a:sym typeface="Nunito"/>
              </a:rPr>
              <a:t>Lexer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" name="Google Shape;347;p16">
            <a:extLst>
              <a:ext uri="{FF2B5EF4-FFF2-40B4-BE49-F238E27FC236}">
                <a16:creationId xmlns:a16="http://schemas.microsoft.com/office/drawing/2014/main" id="{6494BA9B-9044-8223-4603-22B53C59F7B6}"/>
              </a:ext>
            </a:extLst>
          </p:cNvPr>
          <p:cNvSpPr/>
          <p:nvPr/>
        </p:nvSpPr>
        <p:spPr>
          <a:xfrm>
            <a:off x="3946195" y="1858149"/>
            <a:ext cx="1184700" cy="54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Nunito"/>
                <a:ea typeface="Nunito"/>
                <a:cs typeface="Nunito"/>
                <a:sym typeface="Nunito"/>
              </a:rPr>
              <a:t>AST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Google Shape;348;p16">
            <a:extLst>
              <a:ext uri="{FF2B5EF4-FFF2-40B4-BE49-F238E27FC236}">
                <a16:creationId xmlns:a16="http://schemas.microsoft.com/office/drawing/2014/main" id="{4D310F72-A481-E76B-DFA5-CF7DD4E1EE90}"/>
              </a:ext>
            </a:extLst>
          </p:cNvPr>
          <p:cNvSpPr/>
          <p:nvPr/>
        </p:nvSpPr>
        <p:spPr>
          <a:xfrm>
            <a:off x="2394133" y="1858149"/>
            <a:ext cx="1184700" cy="5436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Nunito"/>
                <a:ea typeface="Nunito"/>
                <a:cs typeface="Nunito"/>
                <a:sym typeface="Nunito"/>
              </a:rPr>
              <a:t>Parser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" name="Google Shape;349;p16">
            <a:extLst>
              <a:ext uri="{FF2B5EF4-FFF2-40B4-BE49-F238E27FC236}">
                <a16:creationId xmlns:a16="http://schemas.microsoft.com/office/drawing/2014/main" id="{3172C9E7-0FAF-BC1E-3B16-CE63A5981C3A}"/>
              </a:ext>
            </a:extLst>
          </p:cNvPr>
          <p:cNvSpPr/>
          <p:nvPr/>
        </p:nvSpPr>
        <p:spPr>
          <a:xfrm>
            <a:off x="3946195" y="2673549"/>
            <a:ext cx="1539600" cy="543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Zwischencode-Erzeuger</a:t>
            </a:r>
            <a:endParaRPr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Google Shape;350;p16">
            <a:extLst>
              <a:ext uri="{FF2B5EF4-FFF2-40B4-BE49-F238E27FC236}">
                <a16:creationId xmlns:a16="http://schemas.microsoft.com/office/drawing/2014/main" id="{CA6264EC-1F97-7AE7-91C6-6785BA1DBC14}"/>
              </a:ext>
            </a:extLst>
          </p:cNvPr>
          <p:cNvSpPr/>
          <p:nvPr/>
        </p:nvSpPr>
        <p:spPr>
          <a:xfrm>
            <a:off x="5866001" y="3406645"/>
            <a:ext cx="1463400" cy="543600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Kellermaschine</a:t>
            </a:r>
            <a:endParaRPr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351;p16">
            <a:extLst>
              <a:ext uri="{FF2B5EF4-FFF2-40B4-BE49-F238E27FC236}">
                <a16:creationId xmlns:a16="http://schemas.microsoft.com/office/drawing/2014/main" id="{4CE79D57-F572-0DD0-6841-4C55CB733CF5}"/>
              </a:ext>
            </a:extLst>
          </p:cNvPr>
          <p:cNvSpPr/>
          <p:nvPr/>
        </p:nvSpPr>
        <p:spPr>
          <a:xfrm>
            <a:off x="7212722" y="4038033"/>
            <a:ext cx="1674300" cy="474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Endergebnis</a:t>
            </a:r>
            <a:endParaRPr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" name="Google Shape;352;p16">
            <a:extLst>
              <a:ext uri="{FF2B5EF4-FFF2-40B4-BE49-F238E27FC236}">
                <a16:creationId xmlns:a16="http://schemas.microsoft.com/office/drawing/2014/main" id="{EC35278A-F107-B9BA-CE6E-B4D020E180FE}"/>
              </a:ext>
            </a:extLst>
          </p:cNvPr>
          <p:cNvSpPr/>
          <p:nvPr/>
        </p:nvSpPr>
        <p:spPr>
          <a:xfrm>
            <a:off x="790660" y="264689"/>
            <a:ext cx="1369200" cy="474000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latin typeface="Nunito"/>
                <a:ea typeface="Nunito"/>
                <a:cs typeface="Nunito"/>
                <a:sym typeface="Nunito"/>
              </a:rPr>
              <a:t>Eingabe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3" name="Google Shape;356;p16">
            <a:extLst>
              <a:ext uri="{FF2B5EF4-FFF2-40B4-BE49-F238E27FC236}">
                <a16:creationId xmlns:a16="http://schemas.microsoft.com/office/drawing/2014/main" id="{2E7A70BD-CCAE-4CD6-E893-EE44FE7AB4C6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3578833" y="2129949"/>
            <a:ext cx="36736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357;p16">
            <a:extLst>
              <a:ext uri="{FF2B5EF4-FFF2-40B4-BE49-F238E27FC236}">
                <a16:creationId xmlns:a16="http://schemas.microsoft.com/office/drawing/2014/main" id="{51C512E9-DE63-8B82-1B96-4B16244D0B9F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7329401" y="3678445"/>
            <a:ext cx="720471" cy="359588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359;p16">
            <a:extLst>
              <a:ext uri="{FF2B5EF4-FFF2-40B4-BE49-F238E27FC236}">
                <a16:creationId xmlns:a16="http://schemas.microsoft.com/office/drawing/2014/main" id="{8F621E93-4BC3-F0F5-D6C3-9D23830C8186}"/>
              </a:ext>
            </a:extLst>
          </p:cNvPr>
          <p:cNvCxnSpPr>
            <a:cxnSpLocks/>
          </p:cNvCxnSpPr>
          <p:nvPr/>
        </p:nvCxnSpPr>
        <p:spPr>
          <a:xfrm>
            <a:off x="4584523" y="2401749"/>
            <a:ext cx="0" cy="27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345;p16">
            <a:extLst>
              <a:ext uri="{FF2B5EF4-FFF2-40B4-BE49-F238E27FC236}">
                <a16:creationId xmlns:a16="http://schemas.microsoft.com/office/drawing/2014/main" id="{67DF5CA3-38F5-6774-730B-F5729F0B010D}"/>
              </a:ext>
            </a:extLst>
          </p:cNvPr>
          <p:cNvSpPr/>
          <p:nvPr/>
        </p:nvSpPr>
        <p:spPr>
          <a:xfrm>
            <a:off x="2332127" y="1042418"/>
            <a:ext cx="1184700" cy="543600"/>
          </a:xfrm>
          <a:prstGeom prst="roundRect">
            <a:avLst>
              <a:gd name="adj" fmla="val 16667"/>
            </a:avLst>
          </a:prstGeom>
          <a:solidFill>
            <a:schemeClr val="tx1">
              <a:lumMod val="10000"/>
              <a:lumOff val="90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latin typeface="Nunito"/>
                <a:ea typeface="Nunito"/>
                <a:cs typeface="Nunito"/>
                <a:sym typeface="Nunito"/>
              </a:rPr>
              <a:t>Tokenliste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18" name="Google Shape;359;p16">
            <a:extLst>
              <a:ext uri="{FF2B5EF4-FFF2-40B4-BE49-F238E27FC236}">
                <a16:creationId xmlns:a16="http://schemas.microsoft.com/office/drawing/2014/main" id="{FFB9CD81-82F0-2BDE-3E24-E2F44C69DA34}"/>
              </a:ext>
            </a:extLst>
          </p:cNvPr>
          <p:cNvCxnSpPr>
            <a:cxnSpLocks/>
          </p:cNvCxnSpPr>
          <p:nvPr/>
        </p:nvCxnSpPr>
        <p:spPr>
          <a:xfrm>
            <a:off x="3162550" y="1554420"/>
            <a:ext cx="0" cy="2678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0" name="Google Shape;356;p16">
            <a:extLst>
              <a:ext uri="{FF2B5EF4-FFF2-40B4-BE49-F238E27FC236}">
                <a16:creationId xmlns:a16="http://schemas.microsoft.com/office/drawing/2014/main" id="{57DE72B7-D65D-70A9-5836-129804E939C3}"/>
              </a:ext>
            </a:extLst>
          </p:cNvPr>
          <p:cNvCxnSpPr/>
          <p:nvPr/>
        </p:nvCxnSpPr>
        <p:spPr>
          <a:xfrm>
            <a:off x="1981410" y="1309945"/>
            <a:ext cx="36736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2" name="Google Shape;359;p16">
            <a:extLst>
              <a:ext uri="{FF2B5EF4-FFF2-40B4-BE49-F238E27FC236}">
                <a16:creationId xmlns:a16="http://schemas.microsoft.com/office/drawing/2014/main" id="{FBD5ACBF-D765-0C9A-A165-893ADBEF6DF4}"/>
              </a:ext>
            </a:extLst>
          </p:cNvPr>
          <p:cNvCxnSpPr>
            <a:cxnSpLocks/>
          </p:cNvCxnSpPr>
          <p:nvPr/>
        </p:nvCxnSpPr>
        <p:spPr>
          <a:xfrm>
            <a:off x="1474198" y="738689"/>
            <a:ext cx="0" cy="30372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6" name="Google Shape;349;p16">
            <a:extLst>
              <a:ext uri="{FF2B5EF4-FFF2-40B4-BE49-F238E27FC236}">
                <a16:creationId xmlns:a16="http://schemas.microsoft.com/office/drawing/2014/main" id="{1D4C8E82-3C97-37FF-8A82-685C2FD0C86C}"/>
              </a:ext>
            </a:extLst>
          </p:cNvPr>
          <p:cNvSpPr/>
          <p:nvPr/>
        </p:nvSpPr>
        <p:spPr>
          <a:xfrm>
            <a:off x="5789801" y="2673549"/>
            <a:ext cx="1539600" cy="5436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Zwischencode-Anweisungen</a:t>
            </a:r>
            <a:endParaRPr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27" name="Google Shape;356;p16">
            <a:extLst>
              <a:ext uri="{FF2B5EF4-FFF2-40B4-BE49-F238E27FC236}">
                <a16:creationId xmlns:a16="http://schemas.microsoft.com/office/drawing/2014/main" id="{049E93DF-B55A-E1A5-FC47-87EEFA6409CA}"/>
              </a:ext>
            </a:extLst>
          </p:cNvPr>
          <p:cNvCxnSpPr>
            <a:cxnSpLocks/>
            <a:endCxn id="526" idx="1"/>
          </p:cNvCxnSpPr>
          <p:nvPr/>
        </p:nvCxnSpPr>
        <p:spPr>
          <a:xfrm>
            <a:off x="5485795" y="2945349"/>
            <a:ext cx="304006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0" name="Google Shape;359;p16">
            <a:extLst>
              <a:ext uri="{FF2B5EF4-FFF2-40B4-BE49-F238E27FC236}">
                <a16:creationId xmlns:a16="http://schemas.microsoft.com/office/drawing/2014/main" id="{961AA34C-93E2-0B11-EAFA-5DD68916FD21}"/>
              </a:ext>
            </a:extLst>
          </p:cNvPr>
          <p:cNvCxnSpPr>
            <a:cxnSpLocks/>
            <a:stCxn id="526" idx="2"/>
          </p:cNvCxnSpPr>
          <p:nvPr/>
        </p:nvCxnSpPr>
        <p:spPr>
          <a:xfrm>
            <a:off x="6559601" y="3217149"/>
            <a:ext cx="0" cy="18949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26933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E916EDF0-A043-F505-F683-505259C8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>
            <a:extLst>
              <a:ext uri="{FF2B5EF4-FFF2-40B4-BE49-F238E27FC236}">
                <a16:creationId xmlns:a16="http://schemas.microsoft.com/office/drawing/2014/main" id="{ACB8578E-B83A-FB57-4116-DE8850C6E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317" y="8864"/>
            <a:ext cx="50293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Eingabe</a:t>
            </a:r>
            <a:endParaRPr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C2ED9734-C232-9974-5228-1A3346B57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137" y="945412"/>
            <a:ext cx="5958439" cy="1188187"/>
          </a:xfrm>
          <a:prstGeom prst="rect">
            <a:avLst/>
          </a:prstGeom>
        </p:spPr>
      </p:pic>
      <p:sp>
        <p:nvSpPr>
          <p:cNvPr id="38" name="ZoneTexte 37">
            <a:extLst>
              <a:ext uri="{FF2B5EF4-FFF2-40B4-BE49-F238E27FC236}">
                <a16:creationId xmlns:a16="http://schemas.microsoft.com/office/drawing/2014/main" id="{BAA855FB-5F24-397F-061B-FE744A138361}"/>
              </a:ext>
            </a:extLst>
          </p:cNvPr>
          <p:cNvSpPr txBox="1"/>
          <p:nvPr/>
        </p:nvSpPr>
        <p:spPr>
          <a:xfrm>
            <a:off x="513977" y="1081741"/>
            <a:ext cx="135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1. Eingabe aus .txt-Datei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1E6B0476-4C25-237E-973F-10D60D770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137" y="2887766"/>
            <a:ext cx="5958439" cy="1188187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ACBF6D12-8392-1247-2752-0C7802BB0FFE}"/>
              </a:ext>
            </a:extLst>
          </p:cNvPr>
          <p:cNvSpPr txBox="1"/>
          <p:nvPr/>
        </p:nvSpPr>
        <p:spPr>
          <a:xfrm>
            <a:off x="513977" y="3349812"/>
            <a:ext cx="1356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2. Eingabe durch Shell</a:t>
            </a:r>
          </a:p>
        </p:txBody>
      </p:sp>
    </p:spTree>
    <p:extLst>
      <p:ext uri="{BB962C8B-B14F-4D97-AF65-F5344CB8AC3E}">
        <p14:creationId xmlns:p14="http://schemas.microsoft.com/office/powerpoint/2010/main" val="372809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A138A908-7F88-26FE-B28B-9CD9B58C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>
            <a:extLst>
              <a:ext uri="{FF2B5EF4-FFF2-40B4-BE49-F238E27FC236}">
                <a16:creationId xmlns:a16="http://schemas.microsoft.com/office/drawing/2014/main" id="{C41A206A-F9E7-0C20-E3CA-5D8E9CA5A3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317" y="81053"/>
            <a:ext cx="50293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Kernbestandteile</a:t>
            </a:r>
            <a:endParaRPr dirty="0"/>
          </a:p>
        </p:txBody>
      </p:sp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CAC010E3-5F07-3C61-18B2-CA4A78385DF6}"/>
              </a:ext>
            </a:extLst>
          </p:cNvPr>
          <p:cNvSpPr txBox="1">
            <a:spLocks/>
          </p:cNvSpPr>
          <p:nvPr/>
        </p:nvSpPr>
        <p:spPr>
          <a:xfrm>
            <a:off x="669676" y="810969"/>
            <a:ext cx="1129046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1. Lexer</a:t>
            </a:r>
          </a:p>
        </p:txBody>
      </p:sp>
      <p:sp>
        <p:nvSpPr>
          <p:cNvPr id="3" name="Google Shape;379;p18">
            <a:extLst>
              <a:ext uri="{FF2B5EF4-FFF2-40B4-BE49-F238E27FC236}">
                <a16:creationId xmlns:a16="http://schemas.microsoft.com/office/drawing/2014/main" id="{70343BAC-5CBB-5C7F-9E34-68054234D678}"/>
              </a:ext>
            </a:extLst>
          </p:cNvPr>
          <p:cNvSpPr txBox="1">
            <a:spLocks/>
          </p:cNvSpPr>
          <p:nvPr/>
        </p:nvSpPr>
        <p:spPr>
          <a:xfrm>
            <a:off x="669676" y="1787916"/>
            <a:ext cx="6880140" cy="25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lnSpc>
                <a:spcPct val="150000"/>
              </a:lnSpc>
              <a:buSzPts val="1400"/>
              <a:buFont typeface="Roboto"/>
              <a:buChar char="➔"/>
            </a:pPr>
            <a:r>
              <a:rPr lang="de-DE" dirty="0">
                <a:latin typeface="Roboto"/>
                <a:ea typeface="Roboto"/>
                <a:cs typeface="Roboto"/>
                <a:sym typeface="Roboto"/>
              </a:rPr>
              <a:t>Scannt die Eingabe </a:t>
            </a:r>
          </a:p>
          <a:p>
            <a:pPr marL="457200" indent="-317500">
              <a:lnSpc>
                <a:spcPct val="150000"/>
              </a:lnSpc>
              <a:buSzPts val="1400"/>
              <a:buFont typeface="Roboto"/>
              <a:buChar char="➔"/>
            </a:pPr>
            <a:r>
              <a:rPr lang="de-DE" dirty="0">
                <a:latin typeface="Roboto"/>
                <a:ea typeface="Roboto"/>
                <a:cs typeface="Roboto"/>
                <a:sym typeface="Roboto"/>
              </a:rPr>
              <a:t>Entfernt Leerzeichen in der Eingabe</a:t>
            </a:r>
          </a:p>
          <a:p>
            <a:pPr marL="457200" indent="-317500">
              <a:lnSpc>
                <a:spcPct val="150000"/>
              </a:lnSpc>
              <a:buSzPts val="1400"/>
              <a:buFont typeface="Roboto"/>
              <a:buChar char="➔"/>
            </a:pPr>
            <a:r>
              <a:rPr lang="de-DE" dirty="0">
                <a:latin typeface="Roboto"/>
                <a:ea typeface="Roboto"/>
                <a:cs typeface="Roboto"/>
                <a:sym typeface="Roboto"/>
              </a:rPr>
              <a:t>Prüft die Eingabe auf lexikalische Korrektheit</a:t>
            </a:r>
          </a:p>
          <a:p>
            <a:pPr marL="457200" indent="-317500">
              <a:lnSpc>
                <a:spcPct val="150000"/>
              </a:lnSpc>
              <a:buSzPts val="1400"/>
              <a:buFont typeface="Roboto"/>
              <a:buChar char="➔"/>
            </a:pPr>
            <a:r>
              <a:rPr lang="de-DE" dirty="0">
                <a:latin typeface="Roboto"/>
                <a:ea typeface="Roboto"/>
                <a:cs typeface="Roboto"/>
                <a:sym typeface="Roboto"/>
              </a:rPr>
              <a:t>Weist allen Eingabezeichen einenTokentyp </a:t>
            </a:r>
          </a:p>
          <a:p>
            <a:pPr marL="457200" indent="-317500">
              <a:lnSpc>
                <a:spcPct val="150000"/>
              </a:lnSpc>
              <a:buSzPts val="1400"/>
              <a:buFont typeface="Roboto"/>
              <a:buChar char="➔"/>
            </a:pPr>
            <a:r>
              <a:rPr lang="de-DE" dirty="0">
                <a:latin typeface="Roboto"/>
                <a:ea typeface="Roboto"/>
                <a:cs typeface="Roboto"/>
                <a:sym typeface="Roboto"/>
              </a:rPr>
              <a:t>Wird über die Lexer-Klasse realisiert</a:t>
            </a:r>
          </a:p>
          <a:p>
            <a:pPr marL="457200" indent="-317500">
              <a:lnSpc>
                <a:spcPct val="150000"/>
              </a:lnSpc>
              <a:buSzPts val="1400"/>
              <a:buFont typeface="Roboto"/>
              <a:buChar char="➔"/>
            </a:pPr>
            <a:r>
              <a:rPr lang="de-DE" dirty="0">
                <a:latin typeface="Roboto"/>
                <a:ea typeface="Roboto"/>
                <a:cs typeface="Roboto"/>
                <a:sym typeface="Roboto"/>
              </a:rPr>
              <a:t>Verweist auf die Klassen Token und Position und Konstanten(Tokentypen) zum Zuweisen von Tokens zu den Eingabezeichen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051E21-52F8-F4B4-92E1-3AD741677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73" y="1528011"/>
            <a:ext cx="3305580" cy="173928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B94E398-C8E5-2957-17A9-0E6887A50BCB}"/>
              </a:ext>
            </a:extLst>
          </p:cNvPr>
          <p:cNvSpPr txBox="1"/>
          <p:nvPr/>
        </p:nvSpPr>
        <p:spPr>
          <a:xfrm>
            <a:off x="5736757" y="1274948"/>
            <a:ext cx="1985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Die verschiedenen Tokentypen</a:t>
            </a:r>
          </a:p>
        </p:txBody>
      </p:sp>
    </p:spTree>
    <p:extLst>
      <p:ext uri="{BB962C8B-B14F-4D97-AF65-F5344CB8AC3E}">
        <p14:creationId xmlns:p14="http://schemas.microsoft.com/office/powerpoint/2010/main" val="3324775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E2C228FA-DCA1-172D-18A1-248E2B41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D4B1AAF0-87BE-1D02-4A5D-5DD203347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831" y="55858"/>
            <a:ext cx="6570747" cy="5031784"/>
          </a:xfrm>
          <a:prstGeom prst="rect">
            <a:avLst/>
          </a:prstGeom>
        </p:spPr>
      </p:pic>
      <p:sp>
        <p:nvSpPr>
          <p:cNvPr id="11" name="Google Shape;523;p54">
            <a:extLst>
              <a:ext uri="{FF2B5EF4-FFF2-40B4-BE49-F238E27FC236}">
                <a16:creationId xmlns:a16="http://schemas.microsoft.com/office/drawing/2014/main" id="{D04CDE7C-0627-6E8D-8C06-BEDDFA6B7314}"/>
              </a:ext>
            </a:extLst>
          </p:cNvPr>
          <p:cNvSpPr txBox="1">
            <a:spLocks/>
          </p:cNvSpPr>
          <p:nvPr/>
        </p:nvSpPr>
        <p:spPr>
          <a:xfrm>
            <a:off x="732422" y="242347"/>
            <a:ext cx="1129046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1. Lexer</a:t>
            </a:r>
          </a:p>
        </p:txBody>
      </p:sp>
    </p:spTree>
    <p:extLst>
      <p:ext uri="{BB962C8B-B14F-4D97-AF65-F5344CB8AC3E}">
        <p14:creationId xmlns:p14="http://schemas.microsoft.com/office/powerpoint/2010/main" val="202616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F5C1746F-A610-3B47-C8AA-09022389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2B49D97-F72C-D868-E8EF-C13413AB0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8" y="902369"/>
            <a:ext cx="7740281" cy="4034295"/>
          </a:xfrm>
          <a:prstGeom prst="rect">
            <a:avLst/>
          </a:prstGeom>
        </p:spPr>
      </p:pic>
      <p:sp>
        <p:nvSpPr>
          <p:cNvPr id="4" name="Google Shape;523;p54">
            <a:extLst>
              <a:ext uri="{FF2B5EF4-FFF2-40B4-BE49-F238E27FC236}">
                <a16:creationId xmlns:a16="http://schemas.microsoft.com/office/drawing/2014/main" id="{BE9E6B4A-1F73-3804-6C4A-DDBEC817AFE8}"/>
              </a:ext>
            </a:extLst>
          </p:cNvPr>
          <p:cNvSpPr txBox="1">
            <a:spLocks/>
          </p:cNvSpPr>
          <p:nvPr/>
        </p:nvSpPr>
        <p:spPr>
          <a:xfrm>
            <a:off x="808038" y="251501"/>
            <a:ext cx="1357645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1. Lexer</a:t>
            </a:r>
          </a:p>
        </p:txBody>
      </p:sp>
    </p:spTree>
    <p:extLst>
      <p:ext uri="{BB962C8B-B14F-4D97-AF65-F5344CB8AC3E}">
        <p14:creationId xmlns:p14="http://schemas.microsoft.com/office/powerpoint/2010/main" val="1230075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9D3FF56C-AEE4-8196-1DE8-7E0D9E89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>
            <a:extLst>
              <a:ext uri="{FF2B5EF4-FFF2-40B4-BE49-F238E27FC236}">
                <a16:creationId xmlns:a16="http://schemas.microsoft.com/office/drawing/2014/main" id="{C78DF729-A256-B5FB-1BF3-91107420F8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317" y="81053"/>
            <a:ext cx="50293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Kernbestandteile</a:t>
            </a:r>
            <a:endParaRPr dirty="0"/>
          </a:p>
        </p:txBody>
      </p:sp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4F9C236B-AF2C-7D4E-D2E7-9692ED9DC8B6}"/>
              </a:ext>
            </a:extLst>
          </p:cNvPr>
          <p:cNvSpPr txBox="1">
            <a:spLocks/>
          </p:cNvSpPr>
          <p:nvPr/>
        </p:nvSpPr>
        <p:spPr>
          <a:xfrm>
            <a:off x="669675" y="810969"/>
            <a:ext cx="1315535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2. Parser</a:t>
            </a:r>
          </a:p>
        </p:txBody>
      </p:sp>
      <p:sp>
        <p:nvSpPr>
          <p:cNvPr id="4" name="Google Shape;424;p24">
            <a:extLst>
              <a:ext uri="{FF2B5EF4-FFF2-40B4-BE49-F238E27FC236}">
                <a16:creationId xmlns:a16="http://schemas.microsoft.com/office/drawing/2014/main" id="{979AA406-23BA-ABF1-66A3-5F46CDAABB28}"/>
              </a:ext>
            </a:extLst>
          </p:cNvPr>
          <p:cNvSpPr txBox="1">
            <a:spLocks/>
          </p:cNvSpPr>
          <p:nvPr/>
        </p:nvSpPr>
        <p:spPr>
          <a:xfrm>
            <a:off x="945031" y="1514131"/>
            <a:ext cx="7085100" cy="3079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lnSpc>
                <a:spcPct val="200000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syntaktische Korrektheit basierend auf der definierten Grammatik der Sprache</a:t>
            </a:r>
          </a:p>
          <a:p>
            <a:pPr marL="914400" lvl="1" indent="-317500">
              <a:lnSpc>
                <a:spcPct val="200000"/>
              </a:lnSpc>
              <a:spcBef>
                <a:spcPts val="1000"/>
              </a:spcBef>
              <a:buClr>
                <a:srgbClr val="0D0D0D"/>
              </a:buClr>
              <a:buSzPts val="1400"/>
              <a:buFont typeface="Roboto"/>
              <a:buChar char="○"/>
            </a:pPr>
            <a:r>
              <a:rPr lang="de-DE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zum Beispiel: eine geöffnete Klammer wurde nicht geschlossen  </a:t>
            </a:r>
          </a:p>
          <a:p>
            <a:pPr marL="457200" indent="-317500">
              <a:lnSpc>
                <a:spcPct val="200000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Input: Liste von Token</a:t>
            </a:r>
          </a:p>
          <a:p>
            <a:pPr marL="457200" indent="-317500">
              <a:lnSpc>
                <a:spcPct val="200000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erzeugt einen abstrakten Syntaxbaum (AST)</a:t>
            </a:r>
          </a:p>
          <a:p>
            <a:pPr marL="457200" indent="-317500">
              <a:lnSpc>
                <a:spcPct val="200000"/>
              </a:lnSpc>
              <a:spcBef>
                <a:spcPts val="1000"/>
              </a:spcBef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Output: Node Objekt</a:t>
            </a:r>
          </a:p>
          <a:p>
            <a:pPr marL="457200" indent="-31750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Prinzip des  rekursiven Abstieg</a:t>
            </a:r>
          </a:p>
        </p:txBody>
      </p:sp>
    </p:spTree>
    <p:extLst>
      <p:ext uri="{BB962C8B-B14F-4D97-AF65-F5344CB8AC3E}">
        <p14:creationId xmlns:p14="http://schemas.microsoft.com/office/powerpoint/2010/main" val="389130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A34ADA97-14F8-6FFD-052D-FED214050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0F1DABB0-3EA1-8529-8680-EA0065B0349F}"/>
              </a:ext>
            </a:extLst>
          </p:cNvPr>
          <p:cNvSpPr txBox="1">
            <a:spLocks/>
          </p:cNvSpPr>
          <p:nvPr/>
        </p:nvSpPr>
        <p:spPr>
          <a:xfrm>
            <a:off x="912" y="1342413"/>
            <a:ext cx="4136941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3000"/>
              <a:buFont typeface="Poppins"/>
              <a:buNone/>
              <a:defRPr sz="16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algn="ctr"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algn="ctr"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algn="ctr"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algn="ctr"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algn="ctr"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algn="ctr"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algn="ctr"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algn="ctr"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>
            <a:r>
              <a:rPr lang="fr-FR" sz="1400" dirty="0">
                <a:solidFill>
                  <a:schemeClr val="dk2"/>
                </a:solidFill>
                <a:latin typeface="Roboto"/>
                <a:ea typeface="Roboto"/>
                <a:cs typeface="Roboto"/>
              </a:rPr>
              <a:t>AST(Abstrakter Syntaxbaum)</a:t>
            </a:r>
          </a:p>
        </p:txBody>
      </p:sp>
      <p:sp>
        <p:nvSpPr>
          <p:cNvPr id="4" name="Google Shape;424;p24">
            <a:extLst>
              <a:ext uri="{FF2B5EF4-FFF2-40B4-BE49-F238E27FC236}">
                <a16:creationId xmlns:a16="http://schemas.microsoft.com/office/drawing/2014/main" id="{DF6B1FD5-C142-FFAD-5B52-701D63300160}"/>
              </a:ext>
            </a:extLst>
          </p:cNvPr>
          <p:cNvSpPr txBox="1">
            <a:spLocks/>
          </p:cNvSpPr>
          <p:nvPr/>
        </p:nvSpPr>
        <p:spPr>
          <a:xfrm>
            <a:off x="925250" y="1818822"/>
            <a:ext cx="4992555" cy="3102668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lnSpc>
                <a:spcPct val="200000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/>
              <a:t>Baumartige Darstellung des Ausdrucks </a:t>
            </a:r>
          </a:p>
          <a:p>
            <a:pPr marL="457200" indent="-317500">
              <a:lnSpc>
                <a:spcPct val="200000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ym typeface="Roboto"/>
              </a:rPr>
              <a:t>Operator als Wurzel </a:t>
            </a:r>
          </a:p>
          <a:p>
            <a:pPr marL="457200" indent="-317500">
              <a:lnSpc>
                <a:spcPct val="200000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ym typeface="Roboto"/>
              </a:rPr>
              <a:t>Die Reihenfolge ist in der Form: </a:t>
            </a:r>
            <a:r>
              <a:rPr lang="de-DE" b="1" dirty="0">
                <a:solidFill>
                  <a:srgbClr val="B02B20"/>
                </a:solidFill>
                <a:latin typeface="Roboto"/>
                <a:ea typeface="Roboto"/>
                <a:cs typeface="Roboto"/>
                <a:sym typeface="Roboto"/>
              </a:rPr>
              <a:t>linkes Node -&gt;Wurzel -&gt; rechtes Node </a:t>
            </a:r>
          </a:p>
          <a:p>
            <a:pPr marL="457200" indent="-317500">
              <a:lnSpc>
                <a:spcPct val="200000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AST wird durch die Methode parse() in Parser Klasse erzeugt</a:t>
            </a:r>
          </a:p>
          <a:p>
            <a:pPr marL="457200" indent="-317500">
              <a:lnSpc>
                <a:spcPct val="200000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de-DE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Prinzip des rekursiven Abstieg bei der  Erzeugung</a:t>
            </a:r>
          </a:p>
        </p:txBody>
      </p:sp>
      <p:sp>
        <p:nvSpPr>
          <p:cNvPr id="8" name="Google Shape;431;p25">
            <a:extLst>
              <a:ext uri="{FF2B5EF4-FFF2-40B4-BE49-F238E27FC236}">
                <a16:creationId xmlns:a16="http://schemas.microsoft.com/office/drawing/2014/main" id="{81290AD1-996E-1AA7-9B9D-330820933AC0}"/>
              </a:ext>
            </a:extLst>
          </p:cNvPr>
          <p:cNvSpPr txBox="1">
            <a:spLocks/>
          </p:cNvSpPr>
          <p:nvPr/>
        </p:nvSpPr>
        <p:spPr>
          <a:xfrm>
            <a:off x="6093841" y="927014"/>
            <a:ext cx="2568897" cy="4102185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35714"/>
              </a:lnSpc>
            </a:pPr>
            <a:r>
              <a:rPr lang="nl-NL" sz="1500" b="1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3 Node Arten:</a:t>
            </a:r>
          </a:p>
          <a:p>
            <a:pPr marL="457200" indent="-317500">
              <a:lnSpc>
                <a:spcPct val="135714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nl-NL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NumberNode (2)</a:t>
            </a:r>
          </a:p>
          <a:p>
            <a:pPr marL="457200">
              <a:lnSpc>
                <a:spcPct val="135714"/>
              </a:lnSpc>
            </a:pPr>
            <a:r>
              <a:rPr lang="nl-NL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AST:</a:t>
            </a:r>
            <a:r>
              <a:rPr lang="nl-NL" dirty="0">
                <a:solidFill>
                  <a:srgbClr val="D83729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</a:p>
          <a:p>
            <a:pPr marL="457200">
              <a:lnSpc>
                <a:spcPct val="135714"/>
              </a:lnSpc>
            </a:pPr>
            <a:endParaRPr lang="nl-NL" sz="1050" dirty="0">
              <a:solidFill>
                <a:srgbClr val="0D0D0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indent="-317500">
              <a:lnSpc>
                <a:spcPct val="135714"/>
              </a:lnSpc>
              <a:buClr>
                <a:srgbClr val="0D0D0D"/>
              </a:buClr>
              <a:buSzPts val="1400"/>
              <a:buFont typeface="Arial"/>
              <a:buChar char="●"/>
            </a:pPr>
            <a:r>
              <a:rPr lang="nl-NL" dirty="0">
                <a:solidFill>
                  <a:srgbClr val="0D0D0D"/>
                </a:solidFill>
              </a:rPr>
              <a:t>UnaryNode (-8)</a:t>
            </a:r>
          </a:p>
          <a:p>
            <a:pPr>
              <a:lnSpc>
                <a:spcPct val="135714"/>
              </a:lnSpc>
            </a:pPr>
            <a:r>
              <a:rPr lang="nl-NL" sz="1050" dirty="0">
                <a:solidFill>
                  <a:srgbClr val="0D0D0D"/>
                </a:solidFill>
              </a:rPr>
              <a:t>          </a:t>
            </a:r>
            <a:r>
              <a:rPr lang="nl-NL" sz="1450" dirty="0">
                <a:solidFill>
                  <a:srgbClr val="0D0D0D"/>
                </a:solidFill>
              </a:rPr>
              <a:t>  AST: </a:t>
            </a:r>
            <a:endParaRPr lang="nl-NL" dirty="0"/>
          </a:p>
          <a:p>
            <a:pPr>
              <a:lnSpc>
                <a:spcPct val="135714"/>
              </a:lnSpc>
            </a:pPr>
            <a:endParaRPr lang="nl-NL" sz="1050" dirty="0">
              <a:solidFill>
                <a:srgbClr val="0D0D0D"/>
              </a:solidFill>
            </a:endParaRPr>
          </a:p>
          <a:p>
            <a:pPr marL="457200">
              <a:lnSpc>
                <a:spcPct val="135714"/>
              </a:lnSpc>
            </a:pPr>
            <a:endParaRPr lang="nl-NL" dirty="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>
              <a:lnSpc>
                <a:spcPct val="135714"/>
              </a:lnSpc>
            </a:pPr>
            <a:endParaRPr lang="nl-NL" dirty="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7500">
              <a:lnSpc>
                <a:spcPct val="135714"/>
              </a:lnSpc>
              <a:buClr>
                <a:srgbClr val="0D0D0D"/>
              </a:buClr>
              <a:buSzPts val="1400"/>
              <a:buFont typeface="Roboto"/>
              <a:buChar char="●"/>
            </a:pPr>
            <a:r>
              <a:rPr lang="nl-NL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BinOpNode (4+5)</a:t>
            </a:r>
          </a:p>
          <a:p>
            <a:pPr marL="457200">
              <a:lnSpc>
                <a:spcPct val="135714"/>
              </a:lnSpc>
            </a:pPr>
            <a:r>
              <a:rPr lang="nl-NL" dirty="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AST:      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F2B9387-C142-4531-0B60-0C2E595EA82E}"/>
              </a:ext>
            </a:extLst>
          </p:cNvPr>
          <p:cNvSpPr txBox="1"/>
          <p:nvPr/>
        </p:nvSpPr>
        <p:spPr>
          <a:xfrm>
            <a:off x="7195112" y="1580005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DE14E2-8587-A3F6-6C80-A81AF060FA58}"/>
              </a:ext>
            </a:extLst>
          </p:cNvPr>
          <p:cNvSpPr txBox="1"/>
          <p:nvPr/>
        </p:nvSpPr>
        <p:spPr>
          <a:xfrm>
            <a:off x="7339112" y="2387084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8669B58-F1BD-037E-4CD0-C726A64EAB69}"/>
              </a:ext>
            </a:extLst>
          </p:cNvPr>
          <p:cNvSpPr txBox="1"/>
          <p:nvPr/>
        </p:nvSpPr>
        <p:spPr>
          <a:xfrm>
            <a:off x="7784504" y="3122666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FF0000"/>
                </a:solidFill>
              </a:rPr>
              <a:t>6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AA0920F6-4128-2D74-F879-DC3D080547FB}"/>
              </a:ext>
            </a:extLst>
          </p:cNvPr>
          <p:cNvCxnSpPr>
            <a:cxnSpLocks/>
          </p:cNvCxnSpPr>
          <p:nvPr/>
        </p:nvCxnSpPr>
        <p:spPr>
          <a:xfrm>
            <a:off x="7518295" y="2658257"/>
            <a:ext cx="301392" cy="5509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216A9804-AD78-54D0-7F1C-12054D61CCD9}"/>
              </a:ext>
            </a:extLst>
          </p:cNvPr>
          <p:cNvSpPr txBox="1"/>
          <p:nvPr/>
        </p:nvSpPr>
        <p:spPr>
          <a:xfrm>
            <a:off x="7533625" y="3738033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11B8CE7-70D6-BD19-6BCC-8A06A7886855}"/>
              </a:ext>
            </a:extLst>
          </p:cNvPr>
          <p:cNvSpPr txBox="1"/>
          <p:nvPr/>
        </p:nvSpPr>
        <p:spPr>
          <a:xfrm>
            <a:off x="7923238" y="4568692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FF0000"/>
                </a:solidFill>
              </a:rPr>
              <a:t>6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55F1331-7290-4F53-10D5-24F0997284DD}"/>
              </a:ext>
            </a:extLst>
          </p:cNvPr>
          <p:cNvCxnSpPr>
            <a:cxnSpLocks/>
          </p:cNvCxnSpPr>
          <p:nvPr/>
        </p:nvCxnSpPr>
        <p:spPr>
          <a:xfrm>
            <a:off x="7712808" y="4009206"/>
            <a:ext cx="323604" cy="6490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BE058973-4681-5CBD-560D-B7D6DDE19A65}"/>
              </a:ext>
            </a:extLst>
          </p:cNvPr>
          <p:cNvSpPr txBox="1"/>
          <p:nvPr/>
        </p:nvSpPr>
        <p:spPr>
          <a:xfrm>
            <a:off x="7159020" y="4552158"/>
            <a:ext cx="28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0BFE0CE3-F491-DC97-C144-5CBE9DE27244}"/>
              </a:ext>
            </a:extLst>
          </p:cNvPr>
          <p:cNvCxnSpPr>
            <a:cxnSpLocks/>
          </p:cNvCxnSpPr>
          <p:nvPr/>
        </p:nvCxnSpPr>
        <p:spPr>
          <a:xfrm flipH="1">
            <a:off x="7376874" y="4001242"/>
            <a:ext cx="280576" cy="6401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Google Shape;523;p54">
            <a:extLst>
              <a:ext uri="{FF2B5EF4-FFF2-40B4-BE49-F238E27FC236}">
                <a16:creationId xmlns:a16="http://schemas.microsoft.com/office/drawing/2014/main" id="{E16A6C5B-43FD-2904-EDCD-EA79346377FA}"/>
              </a:ext>
            </a:extLst>
          </p:cNvPr>
          <p:cNvSpPr txBox="1">
            <a:spLocks/>
          </p:cNvSpPr>
          <p:nvPr/>
        </p:nvSpPr>
        <p:spPr>
          <a:xfrm>
            <a:off x="669675" y="810969"/>
            <a:ext cx="1315535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2. Parser</a:t>
            </a:r>
          </a:p>
        </p:txBody>
      </p:sp>
    </p:spTree>
    <p:extLst>
      <p:ext uri="{BB962C8B-B14F-4D97-AF65-F5344CB8AC3E}">
        <p14:creationId xmlns:p14="http://schemas.microsoft.com/office/powerpoint/2010/main" val="129039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64D4E352-03FB-FCBE-494B-CD0CAEA57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294FDACC-A28B-B5DB-F452-35CE2D55237E}"/>
              </a:ext>
            </a:extLst>
          </p:cNvPr>
          <p:cNvSpPr txBox="1">
            <a:spLocks/>
          </p:cNvSpPr>
          <p:nvPr/>
        </p:nvSpPr>
        <p:spPr>
          <a:xfrm>
            <a:off x="886244" y="401895"/>
            <a:ext cx="1315535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2. Parser</a:t>
            </a:r>
          </a:p>
        </p:txBody>
      </p:sp>
      <p:sp>
        <p:nvSpPr>
          <p:cNvPr id="3" name="Google Shape;443;p26">
            <a:extLst>
              <a:ext uri="{FF2B5EF4-FFF2-40B4-BE49-F238E27FC236}">
                <a16:creationId xmlns:a16="http://schemas.microsoft.com/office/drawing/2014/main" id="{E3AB82BC-E3AD-23A5-6A11-94BAF91B87BE}"/>
              </a:ext>
            </a:extLst>
          </p:cNvPr>
          <p:cNvSpPr txBox="1">
            <a:spLocks/>
          </p:cNvSpPr>
          <p:nvPr/>
        </p:nvSpPr>
        <p:spPr>
          <a:xfrm>
            <a:off x="1167439" y="1239250"/>
            <a:ext cx="5844000" cy="36756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spcBef>
                <a:spcPts val="1200"/>
              </a:spcBef>
              <a:buSzPct val="100000"/>
              <a:buFont typeface="Roboto"/>
              <a:buChar char="●"/>
            </a:pPr>
            <a:r>
              <a:rPr lang="fr-FR" sz="5600" b="1" dirty="0">
                <a:latin typeface="Roboto"/>
                <a:ea typeface="Roboto"/>
                <a:cs typeface="Roboto"/>
                <a:sym typeface="Roboto"/>
              </a:rPr>
              <a:t>Nicht Terminale Symbole:</a:t>
            </a:r>
          </a:p>
          <a:p>
            <a:pPr marL="457200">
              <a:spcBef>
                <a:spcPts val="1200"/>
              </a:spcBef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expression, term, factor, power, atom</a:t>
            </a:r>
          </a:p>
          <a:p>
            <a:pPr marL="457200">
              <a:spcBef>
                <a:spcPts val="1200"/>
              </a:spcBef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expr(), term(), factor(), power(), atom() als Methode für die Nicht-terminale Symbole</a:t>
            </a:r>
          </a:p>
          <a:p>
            <a:pPr marL="457200" indent="-317500">
              <a:spcBef>
                <a:spcPts val="1200"/>
              </a:spcBef>
              <a:buSzPct val="100000"/>
              <a:buFont typeface="Roboto"/>
              <a:buChar char="●"/>
            </a:pPr>
            <a:r>
              <a:rPr lang="fr-FR" sz="5600" b="1" dirty="0">
                <a:latin typeface="Roboto"/>
                <a:ea typeface="Roboto"/>
                <a:cs typeface="Roboto"/>
                <a:sym typeface="Roboto"/>
              </a:rPr>
              <a:t>Terminale Symbole:</a:t>
            </a:r>
          </a:p>
          <a:p>
            <a:pPr marL="457200">
              <a:spcBef>
                <a:spcPts val="1200"/>
              </a:spcBef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PLUS, MINUS, MULT, DIV, INT, FLOAT, LPAREN, RPAREN</a:t>
            </a:r>
          </a:p>
          <a:p>
            <a:pPr marL="457200" indent="-317500">
              <a:spcBef>
                <a:spcPts val="1200"/>
              </a:spcBef>
              <a:buSzPct val="100000"/>
              <a:buFont typeface="Roboto"/>
              <a:buChar char="●"/>
            </a:pPr>
            <a:r>
              <a:rPr lang="fr-FR" sz="5600" b="1" dirty="0">
                <a:latin typeface="Roboto"/>
                <a:ea typeface="Roboto"/>
                <a:cs typeface="Roboto"/>
                <a:sym typeface="Roboto"/>
              </a:rPr>
              <a:t>Grammatik Regel für die rechtsrekursive Grammatik</a:t>
            </a:r>
          </a:p>
          <a:p>
            <a:pPr marL="914400" lvl="1" indent="-317500">
              <a:buSzPct val="100000"/>
              <a:buFont typeface="Roboto"/>
              <a:buChar char="○"/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expression -&gt; term ((PLUS | MINUS) term)*</a:t>
            </a:r>
          </a:p>
          <a:p>
            <a:pPr marL="914400" lvl="1" indent="-317500">
              <a:buSzPct val="100000"/>
              <a:buFont typeface="Roboto"/>
              <a:buChar char="○"/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term    -&gt; factor ((MUL | DIV) factor)*</a:t>
            </a:r>
          </a:p>
          <a:p>
            <a:pPr marL="914400" lvl="1" indent="-317500">
              <a:buSzPct val="100000"/>
              <a:buFont typeface="Roboto"/>
              <a:buChar char="○"/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factor  -&gt; (PLUS | MINUS) factor</a:t>
            </a:r>
          </a:p>
          <a:p>
            <a:pPr marL="914400" lvl="1" indent="-317500">
              <a:buSzPct val="100000"/>
              <a:buFont typeface="Roboto"/>
              <a:buChar char="○"/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Factor -&gt; power</a:t>
            </a:r>
          </a:p>
          <a:p>
            <a:pPr marL="914400" lvl="1" indent="-317500">
              <a:buSzPct val="100000"/>
              <a:buFont typeface="Roboto"/>
              <a:buChar char="○"/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power -&gt; atom (POW factor)*     Bsp: 2^3^2</a:t>
            </a:r>
          </a:p>
          <a:p>
            <a:pPr marL="914400" lvl="1" indent="-317500">
              <a:buSzPct val="100000"/>
              <a:buFont typeface="Roboto"/>
              <a:buChar char="○"/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atom   -&gt; INT|FLOAT</a:t>
            </a:r>
          </a:p>
          <a:p>
            <a:pPr marL="914400" lvl="1" indent="-317500">
              <a:buSzPct val="100000"/>
              <a:buFont typeface="Roboto"/>
              <a:buChar char="○"/>
            </a:pP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atom   -&gt; LPAREN expr RPAREN</a:t>
            </a:r>
          </a:p>
          <a:p>
            <a:pPr marL="457200" indent="-317500">
              <a:buSzPct val="100000"/>
              <a:buFont typeface="Roboto"/>
              <a:buChar char="●"/>
            </a:pPr>
            <a:r>
              <a:rPr lang="fr-FR" sz="5600" b="1" dirty="0">
                <a:latin typeface="Roboto"/>
                <a:ea typeface="Roboto"/>
                <a:cs typeface="Roboto"/>
                <a:sym typeface="Roboto"/>
              </a:rPr>
              <a:t>weitere Hilfsmethode </a:t>
            </a:r>
            <a:r>
              <a:rPr lang="fr-FR" sz="5600" dirty="0">
                <a:latin typeface="Roboto"/>
                <a:ea typeface="Roboto"/>
                <a:cs typeface="Roboto"/>
                <a:sym typeface="Roboto"/>
              </a:rPr>
              <a:t>: bin_op()</a:t>
            </a:r>
            <a:endParaRPr lang="fr-FR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fr-FR" dirty="0"/>
          </a:p>
        </p:txBody>
      </p:sp>
      <p:sp>
        <p:nvSpPr>
          <p:cNvPr id="7" name="Google Shape;523;p54">
            <a:extLst>
              <a:ext uri="{FF2B5EF4-FFF2-40B4-BE49-F238E27FC236}">
                <a16:creationId xmlns:a16="http://schemas.microsoft.com/office/drawing/2014/main" id="{143E95BA-DC15-7B93-CBD5-F8F1C6971760}"/>
              </a:ext>
            </a:extLst>
          </p:cNvPr>
          <p:cNvSpPr txBox="1">
            <a:spLocks/>
          </p:cNvSpPr>
          <p:nvPr/>
        </p:nvSpPr>
        <p:spPr>
          <a:xfrm>
            <a:off x="1070810" y="926380"/>
            <a:ext cx="3928311" cy="37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1400" dirty="0">
                <a:solidFill>
                  <a:schemeClr val="bg2"/>
                </a:solidFill>
              </a:rPr>
              <a:t>Expr(), term(), factor(), power(), atom()</a:t>
            </a:r>
          </a:p>
        </p:txBody>
      </p:sp>
    </p:spTree>
    <p:extLst>
      <p:ext uri="{BB962C8B-B14F-4D97-AF65-F5344CB8AC3E}">
        <p14:creationId xmlns:p14="http://schemas.microsoft.com/office/powerpoint/2010/main" val="339848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D70F61A9-CE0B-C172-F15F-E3F07195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066EF427-2FA6-25AD-6846-E018FFC62AA9}"/>
              </a:ext>
            </a:extLst>
          </p:cNvPr>
          <p:cNvSpPr txBox="1">
            <a:spLocks/>
          </p:cNvSpPr>
          <p:nvPr/>
        </p:nvSpPr>
        <p:spPr>
          <a:xfrm>
            <a:off x="1006559" y="241627"/>
            <a:ext cx="1315535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2. Parser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F75A8E-E7C1-8203-BD82-56DB46DCE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68" y="968542"/>
            <a:ext cx="8620626" cy="347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40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91174511-9AF5-99B1-6AAB-BEDD5416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D885C3AE-E6BF-6F8A-DD0F-110AE1271A12}"/>
              </a:ext>
            </a:extLst>
          </p:cNvPr>
          <p:cNvSpPr txBox="1">
            <a:spLocks/>
          </p:cNvSpPr>
          <p:nvPr/>
        </p:nvSpPr>
        <p:spPr>
          <a:xfrm>
            <a:off x="1006559" y="241627"/>
            <a:ext cx="1315535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2. Parser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59E0BA2-FC76-CEC6-056A-0A75A02E7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20" y="854977"/>
            <a:ext cx="8025063" cy="396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811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49FCD449-8911-8C09-65BE-01EBF3AF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23DB3962-2F72-6EE8-0034-C7B3F1A42CD2}"/>
              </a:ext>
            </a:extLst>
          </p:cNvPr>
          <p:cNvSpPr txBox="1">
            <a:spLocks/>
          </p:cNvSpPr>
          <p:nvPr/>
        </p:nvSpPr>
        <p:spPr>
          <a:xfrm>
            <a:off x="1006559" y="241627"/>
            <a:ext cx="1315535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2. Parser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96A1489-39C9-7116-9AD6-5666FC034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43" y="655721"/>
            <a:ext cx="7483642" cy="441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14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05BDDFD1-72E4-A480-8174-A87E0BD9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90D681AD-4162-B051-5615-0EB16676A60A}"/>
              </a:ext>
            </a:extLst>
          </p:cNvPr>
          <p:cNvSpPr txBox="1">
            <a:spLocks/>
          </p:cNvSpPr>
          <p:nvPr/>
        </p:nvSpPr>
        <p:spPr>
          <a:xfrm>
            <a:off x="1006559" y="241627"/>
            <a:ext cx="1315535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2. Parser</a:t>
            </a:r>
          </a:p>
        </p:txBody>
      </p:sp>
      <p:sp>
        <p:nvSpPr>
          <p:cNvPr id="3" name="Google Shape;523;p54">
            <a:extLst>
              <a:ext uri="{FF2B5EF4-FFF2-40B4-BE49-F238E27FC236}">
                <a16:creationId xmlns:a16="http://schemas.microsoft.com/office/drawing/2014/main" id="{8CE74491-BB72-FCDC-4C9A-CDC2BCD43D95}"/>
              </a:ext>
            </a:extLst>
          </p:cNvPr>
          <p:cNvSpPr txBox="1">
            <a:spLocks/>
          </p:cNvSpPr>
          <p:nvPr/>
        </p:nvSpPr>
        <p:spPr>
          <a:xfrm>
            <a:off x="1006559" y="687905"/>
            <a:ext cx="4722395" cy="37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1400" dirty="0">
                <a:solidFill>
                  <a:schemeClr val="bg2"/>
                </a:solidFill>
              </a:rPr>
              <a:t>Beispiel eines behandelten syntaktischen Fehler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B224CFB-7398-FB31-7758-4062E928C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470" y="1213887"/>
            <a:ext cx="5335060" cy="210415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9A0E39E-2ED7-D93B-3DDB-E55CFAD98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17" y="3381082"/>
            <a:ext cx="8839966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63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916DAFE9-A428-0C96-43B0-5D17EF63E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>
            <a:extLst>
              <a:ext uri="{FF2B5EF4-FFF2-40B4-BE49-F238E27FC236}">
                <a16:creationId xmlns:a16="http://schemas.microsoft.com/office/drawing/2014/main" id="{F159CCD1-ABDF-4A18-18A6-613D399501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317" y="81053"/>
            <a:ext cx="50293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Kernbestandteile</a:t>
            </a:r>
            <a:endParaRPr dirty="0"/>
          </a:p>
        </p:txBody>
      </p:sp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60731D13-A32A-9186-6FC9-2C9668FE387D}"/>
              </a:ext>
            </a:extLst>
          </p:cNvPr>
          <p:cNvSpPr txBox="1">
            <a:spLocks/>
          </p:cNvSpPr>
          <p:nvPr/>
        </p:nvSpPr>
        <p:spPr>
          <a:xfrm>
            <a:off x="669675" y="810969"/>
            <a:ext cx="4774614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3. Zwichencode in Postfix Notation</a:t>
            </a:r>
          </a:p>
        </p:txBody>
      </p:sp>
      <p:sp>
        <p:nvSpPr>
          <p:cNvPr id="3" name="Google Shape;459;p28">
            <a:extLst>
              <a:ext uri="{FF2B5EF4-FFF2-40B4-BE49-F238E27FC236}">
                <a16:creationId xmlns:a16="http://schemas.microsoft.com/office/drawing/2014/main" id="{2E397392-CC47-1E1E-9070-89F613C6F6BF}"/>
              </a:ext>
            </a:extLst>
          </p:cNvPr>
          <p:cNvSpPr txBox="1">
            <a:spLocks/>
          </p:cNvSpPr>
          <p:nvPr/>
        </p:nvSpPr>
        <p:spPr>
          <a:xfrm>
            <a:off x="518017" y="1585844"/>
            <a:ext cx="5128325" cy="2559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04800">
              <a:buClr>
                <a:srgbClr val="0D0D0D"/>
              </a:buClr>
              <a:buSzPts val="1200"/>
              <a:buFont typeface="Roboto"/>
              <a:buChar char="●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Reverse Polish Notation (RPN) </a:t>
            </a:r>
          </a:p>
          <a:p>
            <a:pPr marL="457200" indent="-304800">
              <a:buClr>
                <a:srgbClr val="0D0D0D"/>
              </a:buClr>
              <a:buSzPts val="1200"/>
              <a:buFont typeface="Roboto"/>
              <a:buChar char="●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Methode zur Darstellung Arithmetischen Ausdrücken(Operanden, Operatoren)</a:t>
            </a:r>
          </a:p>
          <a:p>
            <a:pPr marL="457200" indent="-304800">
              <a:lnSpc>
                <a:spcPct val="120000"/>
              </a:lnSpc>
              <a:buClr>
                <a:srgbClr val="0D0D0D"/>
              </a:buClr>
              <a:buSzPts val="1200"/>
              <a:buFont typeface="Roboto"/>
              <a:buChar char="●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Vorteile : </a:t>
            </a:r>
          </a:p>
          <a:p>
            <a:pPr marL="914400" lvl="1" indent="-304800">
              <a:lnSpc>
                <a:spcPct val="120000"/>
              </a:lnSpc>
              <a:buClr>
                <a:srgbClr val="0D0D0D"/>
              </a:buClr>
              <a:buSzPts val="1200"/>
              <a:buFont typeface="Roboto"/>
              <a:buChar char="○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Vermeidung von Klammern</a:t>
            </a:r>
          </a:p>
          <a:p>
            <a:pPr marL="914400" lvl="1" indent="-304800">
              <a:lnSpc>
                <a:spcPct val="120000"/>
              </a:lnSpc>
              <a:buClr>
                <a:srgbClr val="0D0D0D"/>
              </a:buClr>
              <a:buSzPts val="1200"/>
              <a:buFont typeface="Roboto"/>
              <a:buChar char="○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Effizienz</a:t>
            </a:r>
          </a:p>
          <a:p>
            <a:pPr marL="914400" lvl="1" indent="-304800">
              <a:lnSpc>
                <a:spcPct val="120000"/>
              </a:lnSpc>
              <a:buClr>
                <a:srgbClr val="0D0D0D"/>
              </a:buClr>
              <a:buSzPts val="1200"/>
              <a:buFont typeface="Roboto"/>
              <a:buChar char="○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Klarheit in der Reihenfolge der Operationen</a:t>
            </a:r>
            <a:endParaRPr lang="de-DE" sz="12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indent="-304800">
              <a:buClr>
                <a:srgbClr val="0D0D0D"/>
              </a:buClr>
              <a:buSzPts val="1200"/>
              <a:buFont typeface="Roboto"/>
              <a:buChar char="●"/>
            </a:pPr>
            <a:endParaRPr lang="de-DE" sz="12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indent="-304800">
              <a:lnSpc>
                <a:spcPct val="120000"/>
              </a:lnSpc>
              <a:buClr>
                <a:srgbClr val="0D0D0D"/>
              </a:buClr>
              <a:buSzPts val="1200"/>
              <a:buFont typeface="Roboto"/>
              <a:buChar char="●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Beispiel: </a:t>
            </a:r>
          </a:p>
          <a:p>
            <a:pPr marL="914400" lvl="1" indent="-304800">
              <a:lnSpc>
                <a:spcPct val="120000"/>
              </a:lnSpc>
              <a:buClr>
                <a:srgbClr val="0D0D0D"/>
              </a:buClr>
              <a:buSzPts val="1200"/>
              <a:buFont typeface="Roboto"/>
              <a:buChar char="○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Ausdruck:  (5+4)  ; Postfix: 5 4 +</a:t>
            </a:r>
          </a:p>
          <a:p>
            <a:pPr marL="914400" lvl="1" indent="-304800">
              <a:lnSpc>
                <a:spcPct val="120000"/>
              </a:lnSpc>
              <a:buClr>
                <a:srgbClr val="0D0D0D"/>
              </a:buClr>
              <a:buSzPts val="1200"/>
              <a:buFont typeface="Roboto"/>
              <a:buChar char="○"/>
            </a:pPr>
            <a:r>
              <a:rPr lang="de-DE" sz="12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Kombinierter Ausdruck: (5+4)*(7−2) ; Postfix: 5 4 + 7 2 − *</a:t>
            </a:r>
            <a:endParaRPr lang="de-DE" sz="12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914400">
              <a:spcBef>
                <a:spcPts val="1500"/>
              </a:spcBef>
              <a:spcAft>
                <a:spcPts val="1500"/>
              </a:spcAft>
            </a:pPr>
            <a:endParaRPr lang="de-DE" sz="1200" dirty="0">
              <a:solidFill>
                <a:srgbClr val="0D0D0D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461;p28">
            <a:extLst>
              <a:ext uri="{FF2B5EF4-FFF2-40B4-BE49-F238E27FC236}">
                <a16:creationId xmlns:a16="http://schemas.microsoft.com/office/drawing/2014/main" id="{EB753644-91E6-E5E4-9B33-79E32EA8BE16}"/>
              </a:ext>
            </a:extLst>
          </p:cNvPr>
          <p:cNvSpPr/>
          <p:nvPr/>
        </p:nvSpPr>
        <p:spPr>
          <a:xfrm>
            <a:off x="6240292" y="1959912"/>
            <a:ext cx="1842300" cy="542700"/>
          </a:xfrm>
          <a:prstGeom prst="roundRect">
            <a:avLst>
              <a:gd name="adj" fmla="val 16667"/>
            </a:avLst>
          </a:prstGeom>
          <a:solidFill>
            <a:schemeClr val="tx1">
              <a:lumMod val="10000"/>
              <a:lumOff val="9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latin typeface="Nunito"/>
                <a:ea typeface="Nunito"/>
                <a:cs typeface="Nunito"/>
                <a:sym typeface="Nunito"/>
              </a:rPr>
              <a:t>Zwischen Repräsentation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" name="Google Shape;462;p28">
            <a:extLst>
              <a:ext uri="{FF2B5EF4-FFF2-40B4-BE49-F238E27FC236}">
                <a16:creationId xmlns:a16="http://schemas.microsoft.com/office/drawing/2014/main" id="{9F8652AF-7A34-4EAF-4408-CB59412F684F}"/>
              </a:ext>
            </a:extLst>
          </p:cNvPr>
          <p:cNvSpPr/>
          <p:nvPr/>
        </p:nvSpPr>
        <p:spPr>
          <a:xfrm>
            <a:off x="5646342" y="2832262"/>
            <a:ext cx="1419000" cy="393600"/>
          </a:xfrm>
          <a:prstGeom prst="roundRect">
            <a:avLst>
              <a:gd name="adj" fmla="val 16667"/>
            </a:avLst>
          </a:prstGeom>
          <a:solidFill>
            <a:schemeClr val="tx1">
              <a:lumMod val="10000"/>
              <a:lumOff val="9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latin typeface="Nunito"/>
                <a:ea typeface="Nunito"/>
                <a:cs typeface="Nunito"/>
                <a:sym typeface="Nunito"/>
              </a:rPr>
              <a:t>Quellcode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Google Shape;463;p28">
            <a:extLst>
              <a:ext uri="{FF2B5EF4-FFF2-40B4-BE49-F238E27FC236}">
                <a16:creationId xmlns:a16="http://schemas.microsoft.com/office/drawing/2014/main" id="{7431B37F-66FB-55B3-1CAD-C0D1FBF84755}"/>
              </a:ext>
            </a:extLst>
          </p:cNvPr>
          <p:cNvSpPr/>
          <p:nvPr/>
        </p:nvSpPr>
        <p:spPr>
          <a:xfrm>
            <a:off x="7216842" y="2832262"/>
            <a:ext cx="1531200" cy="393600"/>
          </a:xfrm>
          <a:prstGeom prst="roundRect">
            <a:avLst>
              <a:gd name="adj" fmla="val 16667"/>
            </a:avLst>
          </a:prstGeom>
          <a:solidFill>
            <a:schemeClr val="tx1">
              <a:lumMod val="10000"/>
              <a:lumOff val="9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latin typeface="Nunito"/>
                <a:ea typeface="Nunito"/>
                <a:cs typeface="Nunito"/>
                <a:sym typeface="Nunito"/>
              </a:rPr>
              <a:t>Maschinencode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" name="Google Shape;464;p28">
            <a:extLst>
              <a:ext uri="{FF2B5EF4-FFF2-40B4-BE49-F238E27FC236}">
                <a16:creationId xmlns:a16="http://schemas.microsoft.com/office/drawing/2014/main" id="{50598E81-D86D-D0B7-1BCF-0CAE50FAC080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6593842" y="2264712"/>
            <a:ext cx="329700" cy="8055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" name="Google Shape;465;p28">
            <a:extLst>
              <a:ext uri="{FF2B5EF4-FFF2-40B4-BE49-F238E27FC236}">
                <a16:creationId xmlns:a16="http://schemas.microsoft.com/office/drawing/2014/main" id="{A2C93957-9DD0-04F8-80FD-3D31B1ED977C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7407142" y="2256912"/>
            <a:ext cx="329700" cy="821100"/>
          </a:xfrm>
          <a:prstGeom prst="bentConnector3">
            <a:avLst>
              <a:gd name="adj1" fmla="val 4999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1577111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2BC271CE-4DA1-57EA-2387-4ADB3DC2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23;p54">
            <a:extLst>
              <a:ext uri="{FF2B5EF4-FFF2-40B4-BE49-F238E27FC236}">
                <a16:creationId xmlns:a16="http://schemas.microsoft.com/office/drawing/2014/main" id="{CB2AB4F9-D4D2-859B-2131-0F8C6DD7C438}"/>
              </a:ext>
            </a:extLst>
          </p:cNvPr>
          <p:cNvSpPr txBox="1">
            <a:spLocks/>
          </p:cNvSpPr>
          <p:nvPr/>
        </p:nvSpPr>
        <p:spPr>
          <a:xfrm>
            <a:off x="448553" y="179311"/>
            <a:ext cx="4774614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3. Zwichencode erstellen</a:t>
            </a:r>
          </a:p>
        </p:txBody>
      </p:sp>
      <p:sp>
        <p:nvSpPr>
          <p:cNvPr id="6" name="Google Shape;471;p29">
            <a:extLst>
              <a:ext uri="{FF2B5EF4-FFF2-40B4-BE49-F238E27FC236}">
                <a16:creationId xmlns:a16="http://schemas.microsoft.com/office/drawing/2014/main" id="{375DCB95-947B-C23E-C43C-F90A0D1A7FAB}"/>
              </a:ext>
            </a:extLst>
          </p:cNvPr>
          <p:cNvSpPr txBox="1">
            <a:spLocks/>
          </p:cNvSpPr>
          <p:nvPr/>
        </p:nvSpPr>
        <p:spPr>
          <a:xfrm>
            <a:off x="261412" y="788068"/>
            <a:ext cx="2511872" cy="24183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35714"/>
              </a:lnSpc>
            </a:pPr>
            <a:r>
              <a:rPr lang="de-DE" sz="1200" dirty="0">
                <a:solidFill>
                  <a:srgbClr val="0D0D0D"/>
                </a:solidFill>
              </a:rPr>
              <a:t>3 Node Arten:</a:t>
            </a:r>
          </a:p>
          <a:p>
            <a:pPr marL="457200" indent="-292100">
              <a:lnSpc>
                <a:spcPct val="135714"/>
              </a:lnSpc>
              <a:buClr>
                <a:srgbClr val="0D0D0D"/>
              </a:buClr>
              <a:buSzPts val="1000"/>
              <a:buFont typeface="Arial"/>
              <a:buChar char="●"/>
            </a:pPr>
            <a:r>
              <a:rPr lang="de-DE" sz="1000" dirty="0" err="1">
                <a:solidFill>
                  <a:srgbClr val="0D0D0D"/>
                </a:solidFill>
              </a:rPr>
              <a:t>NumberNode</a:t>
            </a:r>
            <a:r>
              <a:rPr lang="de-DE" sz="1000" dirty="0">
                <a:solidFill>
                  <a:srgbClr val="0D0D0D"/>
                </a:solidFill>
              </a:rPr>
              <a:t> (3)</a:t>
            </a:r>
          </a:p>
          <a:p>
            <a:pPr marL="914400" lvl="1" indent="-292100">
              <a:lnSpc>
                <a:spcPct val="135714"/>
              </a:lnSpc>
              <a:buClr>
                <a:srgbClr val="0D0D0D"/>
              </a:buClr>
              <a:buSzPts val="1000"/>
              <a:buFont typeface="Arial"/>
              <a:buChar char="○"/>
            </a:pPr>
            <a:r>
              <a:rPr lang="de-DE" sz="1000" dirty="0">
                <a:solidFill>
                  <a:srgbClr val="0D0D0D"/>
                </a:solidFill>
              </a:rPr>
              <a:t>Zwischenanweisung : PUSH 3</a:t>
            </a:r>
          </a:p>
          <a:p>
            <a:pPr marL="457200">
              <a:lnSpc>
                <a:spcPct val="135714"/>
              </a:lnSpc>
            </a:pPr>
            <a:endParaRPr lang="de-DE" sz="1050" dirty="0">
              <a:solidFill>
                <a:srgbClr val="0D0D0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indent="-295275">
              <a:lnSpc>
                <a:spcPct val="135714"/>
              </a:lnSpc>
              <a:buClr>
                <a:srgbClr val="0D0D0D"/>
              </a:buClr>
              <a:buSzPts val="1050"/>
              <a:buFont typeface="Arial"/>
              <a:buChar char="●"/>
            </a:pPr>
            <a:r>
              <a:rPr lang="de-DE" sz="1050" dirty="0" err="1">
                <a:solidFill>
                  <a:srgbClr val="0D0D0D"/>
                </a:solidFill>
              </a:rPr>
              <a:t>UnaryNode</a:t>
            </a:r>
            <a:r>
              <a:rPr lang="de-DE" sz="1050" dirty="0">
                <a:solidFill>
                  <a:srgbClr val="0D0D0D"/>
                </a:solidFill>
              </a:rPr>
              <a:t> (-9)</a:t>
            </a:r>
          </a:p>
          <a:p>
            <a:pPr marL="914400" lvl="1" indent="-295275">
              <a:lnSpc>
                <a:spcPct val="135714"/>
              </a:lnSpc>
              <a:buClr>
                <a:srgbClr val="0D0D0D"/>
              </a:buClr>
              <a:buSzPts val="1050"/>
              <a:buFont typeface="Arial"/>
              <a:buChar char="○"/>
            </a:pPr>
            <a:r>
              <a:rPr lang="de-DE" sz="1050" dirty="0">
                <a:solidFill>
                  <a:srgbClr val="0D0D0D"/>
                </a:solidFill>
              </a:rPr>
              <a:t>Zwischenanweisung :</a:t>
            </a:r>
            <a:br>
              <a:rPr lang="de-DE" sz="1050" dirty="0">
                <a:solidFill>
                  <a:srgbClr val="0D0D0D"/>
                </a:solidFill>
              </a:rPr>
            </a:br>
            <a:r>
              <a:rPr lang="de-DE" sz="1050" dirty="0">
                <a:solidFill>
                  <a:srgbClr val="0D0D0D"/>
                </a:solidFill>
              </a:rPr>
              <a:t>PUSH 9, NEGATE</a:t>
            </a:r>
            <a:endParaRPr lang="de-DE" sz="1050" dirty="0">
              <a:solidFill>
                <a:srgbClr val="0D0D0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>
              <a:lnSpc>
                <a:spcPct val="135714"/>
              </a:lnSpc>
            </a:pPr>
            <a:r>
              <a:rPr lang="de-DE" sz="1050" dirty="0">
                <a:solidFill>
                  <a:srgbClr val="0D0D0D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</a:p>
          <a:p>
            <a:pPr marL="457200" indent="-295275">
              <a:lnSpc>
                <a:spcPct val="135714"/>
              </a:lnSpc>
              <a:buClr>
                <a:srgbClr val="0D0D0D"/>
              </a:buClr>
              <a:buSzPts val="1050"/>
              <a:buFont typeface="Arial"/>
              <a:buChar char="●"/>
            </a:pPr>
            <a:r>
              <a:rPr lang="de-DE" sz="1050" dirty="0" err="1">
                <a:solidFill>
                  <a:srgbClr val="0D0D0D"/>
                </a:solidFill>
              </a:rPr>
              <a:t>BinOpNode</a:t>
            </a:r>
            <a:r>
              <a:rPr lang="de-DE" sz="1050" dirty="0">
                <a:solidFill>
                  <a:srgbClr val="0D0D0D"/>
                </a:solidFill>
              </a:rPr>
              <a:t> (5+6)</a:t>
            </a:r>
          </a:p>
          <a:p>
            <a:pPr marL="914400" lvl="1" indent="-295275">
              <a:lnSpc>
                <a:spcPct val="135714"/>
              </a:lnSpc>
              <a:buClr>
                <a:srgbClr val="0D0D0D"/>
              </a:buClr>
              <a:buSzPts val="1050"/>
              <a:buFont typeface="Arial"/>
              <a:buChar char="○"/>
            </a:pPr>
            <a:r>
              <a:rPr lang="de-DE" sz="1050" dirty="0">
                <a:solidFill>
                  <a:srgbClr val="0D0D0D"/>
                </a:solidFill>
              </a:rPr>
              <a:t>Zwischenanweisung :</a:t>
            </a:r>
            <a:br>
              <a:rPr lang="de-DE" sz="1050" dirty="0">
                <a:solidFill>
                  <a:srgbClr val="0D0D0D"/>
                </a:solidFill>
              </a:rPr>
            </a:br>
            <a:r>
              <a:rPr lang="de-DE" sz="1050" dirty="0">
                <a:solidFill>
                  <a:srgbClr val="0D0D0D"/>
                </a:solidFill>
              </a:rPr>
              <a:t>PUSH 5, PUSH 6, ADD </a:t>
            </a:r>
          </a:p>
          <a:p>
            <a:pPr marL="914400">
              <a:lnSpc>
                <a:spcPct val="135714"/>
              </a:lnSpc>
            </a:pPr>
            <a:endParaRPr lang="de-DE" sz="1050" dirty="0">
              <a:solidFill>
                <a:srgbClr val="0D0D0D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EF076BE-C6F3-49DB-1F35-F69A76D9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958" y="739942"/>
            <a:ext cx="5530787" cy="428324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8AB0412-C77F-6F08-C150-CF9124537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84" y="3158289"/>
            <a:ext cx="2360895" cy="186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27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25275A0F-5A13-4C67-4664-697A923B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4">
            <a:extLst>
              <a:ext uri="{FF2B5EF4-FFF2-40B4-BE49-F238E27FC236}">
                <a16:creationId xmlns:a16="http://schemas.microsoft.com/office/drawing/2014/main" id="{231CDD0E-4711-FD44-E649-C136F66051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4754" y="2445"/>
            <a:ext cx="502936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Kernbestandteile</a:t>
            </a:r>
            <a:endParaRPr dirty="0"/>
          </a:p>
        </p:txBody>
      </p:sp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8B2F5572-8955-3D32-FEC6-7E761FA87300}"/>
              </a:ext>
            </a:extLst>
          </p:cNvPr>
          <p:cNvSpPr txBox="1">
            <a:spLocks/>
          </p:cNvSpPr>
          <p:nvPr/>
        </p:nvSpPr>
        <p:spPr>
          <a:xfrm>
            <a:off x="681706" y="288795"/>
            <a:ext cx="2422441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4. Kellermachine</a:t>
            </a:r>
          </a:p>
        </p:txBody>
      </p:sp>
      <p:sp>
        <p:nvSpPr>
          <p:cNvPr id="4" name="Google Shape;479;p30">
            <a:extLst>
              <a:ext uri="{FF2B5EF4-FFF2-40B4-BE49-F238E27FC236}">
                <a16:creationId xmlns:a16="http://schemas.microsoft.com/office/drawing/2014/main" id="{56A1B5C7-88E7-BFB6-03E3-D582A0F0E7AE}"/>
              </a:ext>
            </a:extLst>
          </p:cNvPr>
          <p:cNvSpPr txBox="1">
            <a:spLocks/>
          </p:cNvSpPr>
          <p:nvPr/>
        </p:nvSpPr>
        <p:spPr>
          <a:xfrm>
            <a:off x="453631" y="575145"/>
            <a:ext cx="3852300" cy="4413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20797">
              <a:lnSpc>
                <a:spcPct val="150000"/>
              </a:lnSpc>
              <a:spcBef>
                <a:spcPts val="1500"/>
              </a:spcBef>
              <a:buClr>
                <a:srgbClr val="0D0D0D"/>
              </a:buClr>
              <a:buSzPct val="100000"/>
              <a:buFont typeface="Roboto"/>
              <a:buChar char="●"/>
            </a:pPr>
            <a:r>
              <a:rPr lang="de-DE" sz="5807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Über die Klasse AbstractStackMaschine realisiert.</a:t>
            </a:r>
          </a:p>
          <a:p>
            <a:pPr marL="457200" indent="-320797">
              <a:lnSpc>
                <a:spcPct val="150000"/>
              </a:lnSpc>
              <a:buClr>
                <a:srgbClr val="0D0D0D"/>
              </a:buClr>
              <a:buSzPct val="100000"/>
              <a:buFont typeface="Roboto"/>
              <a:buChar char="●"/>
            </a:pPr>
            <a:r>
              <a:rPr lang="de-DE" sz="5807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Input: Array von Anweisungen einer arithmetischen Expression aus dem Zwischencode-Erzeuger</a:t>
            </a:r>
          </a:p>
          <a:p>
            <a:pPr marL="457200" indent="-320797">
              <a:lnSpc>
                <a:spcPct val="150000"/>
              </a:lnSpc>
              <a:buClr>
                <a:srgbClr val="0D0D0D"/>
              </a:buClr>
              <a:buSzPct val="100000"/>
              <a:buFont typeface="Roboto"/>
              <a:buChar char="●"/>
            </a:pPr>
            <a:r>
              <a:rPr lang="de-DE" sz="5807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Output: Ergebnis des arithmetischen Ausdrucks</a:t>
            </a:r>
          </a:p>
          <a:p>
            <a:pPr marL="457200" indent="-320797">
              <a:lnSpc>
                <a:spcPct val="150000"/>
              </a:lnSpc>
              <a:buClr>
                <a:srgbClr val="0D0D0D"/>
              </a:buClr>
              <a:buSzPct val="100000"/>
              <a:buFont typeface="Roboto"/>
              <a:buChar char="●"/>
            </a:pPr>
            <a:r>
              <a:rPr lang="de-DE" sz="5807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Methode execute()</a:t>
            </a:r>
          </a:p>
          <a:p>
            <a:pPr marL="914400" lvl="1" indent="-320797">
              <a:buSzPct val="100000"/>
              <a:buFont typeface="Roboto"/>
              <a:buChar char="○"/>
            </a:pPr>
            <a:r>
              <a:rPr lang="de-DE" sz="5807" dirty="0">
                <a:latin typeface="Roboto"/>
                <a:ea typeface="Roboto"/>
                <a:cs typeface="Roboto"/>
                <a:sym typeface="Roboto"/>
              </a:rPr>
              <a:t>Stack nach dem LIFO- Prinzip</a:t>
            </a:r>
          </a:p>
          <a:p>
            <a:pPr marL="914400" lvl="1" indent="-320797">
              <a:buSzPct val="100000"/>
              <a:buFont typeface="Roboto"/>
              <a:buChar char="○"/>
            </a:pPr>
            <a:r>
              <a:rPr lang="de-DE" sz="6000" dirty="0">
                <a:solidFill>
                  <a:srgbClr val="0D0D0D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</a:rPr>
              <a:t>Die im Postfix zum Stack hinzugefügten Elemente </a:t>
            </a:r>
            <a:r>
              <a:rPr lang="de-DE" sz="5807" dirty="0">
                <a:latin typeface="Roboto"/>
                <a:ea typeface="Roboto"/>
                <a:cs typeface="Roboto"/>
                <a:sym typeface="Roboto"/>
              </a:rPr>
              <a:t>werden nacheinander  abgearbeitet</a:t>
            </a:r>
          </a:p>
          <a:p>
            <a:pPr marL="457200" indent="-320797">
              <a:buSzPct val="100000"/>
              <a:buFont typeface="Roboto"/>
              <a:buChar char="●"/>
            </a:pPr>
            <a:r>
              <a:rPr lang="de-DE" sz="5807" dirty="0">
                <a:latin typeface="Roboto"/>
                <a:ea typeface="Roboto"/>
                <a:cs typeface="Roboto"/>
                <a:sym typeface="Roboto"/>
              </a:rPr>
              <a:t>Wurde der Stack(Keller) bis zum Ende abgearbeitet, dann hat der Keller das Wort akzeptiert.</a:t>
            </a:r>
          </a:p>
          <a:p>
            <a:pPr marL="457200" indent="-320797">
              <a:buSzPct val="100000"/>
              <a:buFont typeface="Roboto"/>
              <a:buChar char="●"/>
            </a:pPr>
            <a:r>
              <a:rPr lang="de-DE" sz="5807" dirty="0">
                <a:latin typeface="Roboto"/>
                <a:ea typeface="Roboto"/>
                <a:cs typeface="Roboto"/>
                <a:sym typeface="Roboto"/>
              </a:rPr>
              <a:t>Wenn nicht soll ein Fehler geworfen werden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de-DE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AE5C0CA-8824-841E-FA33-4E5FB6827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843" y="765205"/>
            <a:ext cx="4140702" cy="406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6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C29DADB5-299C-8DA4-F0E3-0AEDF3AC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8FB3445E-9F4F-DE79-7E4C-846DF5B66A9D}"/>
              </a:ext>
            </a:extLst>
          </p:cNvPr>
          <p:cNvSpPr txBox="1">
            <a:spLocks/>
          </p:cNvSpPr>
          <p:nvPr/>
        </p:nvSpPr>
        <p:spPr>
          <a:xfrm>
            <a:off x="681706" y="288795"/>
            <a:ext cx="2422441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4. Kellermachine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228D84C-DC80-2766-D9E2-E50237B9B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21" y="824804"/>
            <a:ext cx="6308862" cy="409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13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B6C26BC5-88E0-E1F3-FAE5-B98E9E37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BDEE6BD0-25DA-46CE-1C3A-420656C24EA2}"/>
              </a:ext>
            </a:extLst>
          </p:cNvPr>
          <p:cNvSpPr txBox="1">
            <a:spLocks/>
          </p:cNvSpPr>
          <p:nvPr/>
        </p:nvSpPr>
        <p:spPr>
          <a:xfrm>
            <a:off x="681706" y="288795"/>
            <a:ext cx="2422441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2000" dirty="0"/>
              <a:t>4. Kellermachine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88C4AF4-71D8-377B-CF77-2C05D1B31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532" y="842521"/>
            <a:ext cx="5724563" cy="40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4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25FEDD28-6CE4-258D-961F-33F19E51B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3;p54">
            <a:extLst>
              <a:ext uri="{FF2B5EF4-FFF2-40B4-BE49-F238E27FC236}">
                <a16:creationId xmlns:a16="http://schemas.microsoft.com/office/drawing/2014/main" id="{A431033E-206D-BB78-2131-DA1590516495}"/>
              </a:ext>
            </a:extLst>
          </p:cNvPr>
          <p:cNvSpPr txBox="1">
            <a:spLocks/>
          </p:cNvSpPr>
          <p:nvPr/>
        </p:nvSpPr>
        <p:spPr>
          <a:xfrm>
            <a:off x="1006559" y="241627"/>
            <a:ext cx="2446504" cy="47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lang="fr-FR" sz="2000" dirty="0"/>
          </a:p>
        </p:txBody>
      </p:sp>
      <p:sp>
        <p:nvSpPr>
          <p:cNvPr id="3" name="Google Shape;523;p54">
            <a:extLst>
              <a:ext uri="{FF2B5EF4-FFF2-40B4-BE49-F238E27FC236}">
                <a16:creationId xmlns:a16="http://schemas.microsoft.com/office/drawing/2014/main" id="{A259D433-7129-962A-4EBB-FDAEC41262FC}"/>
              </a:ext>
            </a:extLst>
          </p:cNvPr>
          <p:cNvSpPr txBox="1">
            <a:spLocks/>
          </p:cNvSpPr>
          <p:nvPr/>
        </p:nvSpPr>
        <p:spPr>
          <a:xfrm>
            <a:off x="2210802" y="288527"/>
            <a:ext cx="4722395" cy="37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z="1400" dirty="0">
                <a:solidFill>
                  <a:schemeClr val="bg2"/>
                </a:solidFill>
              </a:rPr>
              <a:t>Beispiel eines behandelten semantischen Fehler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8C2E017-350A-315D-E5D7-14C62E298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212" y="961087"/>
            <a:ext cx="4831574" cy="237696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07CCA82-287A-CADF-E331-FC71058D3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882" y="3490860"/>
            <a:ext cx="5078233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78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ED388BE0-BE39-F26C-1464-7EB8BC87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2">
            <a:extLst>
              <a:ext uri="{FF2B5EF4-FFF2-40B4-BE49-F238E27FC236}">
                <a16:creationId xmlns:a16="http://schemas.microsoft.com/office/drawing/2014/main" id="{2498050D-B75D-8D6B-C221-5511DBC42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965" y="1999050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Live-Demo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6640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4C9FB34B-C92D-19AD-D03C-B5EF51DCB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2">
            <a:extLst>
              <a:ext uri="{FF2B5EF4-FFF2-40B4-BE49-F238E27FC236}">
                <a16:creationId xmlns:a16="http://schemas.microsoft.com/office/drawing/2014/main" id="{4E886446-E869-7136-9EE2-7BB5B4E83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128" y="681592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Fazit</a:t>
            </a:r>
            <a:endParaRPr dirty="0"/>
          </a:p>
        </p:txBody>
      </p:sp>
      <p:sp>
        <p:nvSpPr>
          <p:cNvPr id="2" name="Google Shape;493;p32">
            <a:extLst>
              <a:ext uri="{FF2B5EF4-FFF2-40B4-BE49-F238E27FC236}">
                <a16:creationId xmlns:a16="http://schemas.microsoft.com/office/drawing/2014/main" id="{25EA6085-F3C6-DF95-557D-0F6B678C5F80}"/>
              </a:ext>
            </a:extLst>
          </p:cNvPr>
          <p:cNvSpPr txBox="1">
            <a:spLocks/>
          </p:cNvSpPr>
          <p:nvPr/>
        </p:nvSpPr>
        <p:spPr>
          <a:xfrm>
            <a:off x="1099263" y="1598351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17500">
              <a:lnSpc>
                <a:spcPct val="150000"/>
              </a:lnSpc>
              <a:buSzPts val="1400"/>
              <a:buFont typeface="Arial"/>
              <a:buChar char="●"/>
            </a:pPr>
            <a:r>
              <a:rPr lang="de-DE" dirty="0"/>
              <a:t>Der Compiler kompiliert mathematische Ausdrücke und berechnet das Ergebnis als eine Dezimalzahl</a:t>
            </a:r>
          </a:p>
          <a:p>
            <a:pPr marL="457200" indent="-317500">
              <a:lnSpc>
                <a:spcPct val="150000"/>
              </a:lnSpc>
              <a:buSzPts val="1400"/>
              <a:buFont typeface="Arial"/>
              <a:buChar char="●"/>
            </a:pPr>
            <a:r>
              <a:rPr lang="de-DE" dirty="0"/>
              <a:t>Der funktioniert über dem Prinzip des rekursiven Abstiegs</a:t>
            </a:r>
          </a:p>
          <a:p>
            <a:pPr marL="457200" indent="-317500">
              <a:lnSpc>
                <a:spcPct val="150000"/>
              </a:lnSpc>
              <a:buSzPts val="1400"/>
              <a:buFont typeface="Arial"/>
              <a:buChar char="●"/>
            </a:pPr>
            <a:r>
              <a:rPr lang="de-DE" dirty="0"/>
              <a:t>Der hat 5 Kernbestandteile und wurde in Python implementiert</a:t>
            </a:r>
          </a:p>
          <a:p>
            <a:pPr marL="457200" indent="-317500">
              <a:lnSpc>
                <a:spcPct val="150000"/>
              </a:lnSpc>
              <a:buSzPts val="1400"/>
              <a:buFont typeface="Arial"/>
              <a:buChar char="●"/>
            </a:pPr>
            <a:r>
              <a:rPr lang="de-DE" dirty="0"/>
              <a:t>Der beinhaltet Mechanismen für lexikalische, syntaktische sowie semantische Analyse</a:t>
            </a:r>
          </a:p>
          <a:p>
            <a:pPr marL="457200" indent="-317500">
              <a:lnSpc>
                <a:spcPct val="150000"/>
              </a:lnSpc>
              <a:buSzPts val="1400"/>
              <a:buFont typeface="Arial"/>
              <a:buChar char="●"/>
            </a:pPr>
            <a:r>
              <a:rPr lang="de-DE" dirty="0"/>
              <a:t>Der wurde ebenfalls mit grundlegenden Debugging-Mechanismen ausgerüstet</a:t>
            </a:r>
          </a:p>
        </p:txBody>
      </p:sp>
    </p:spTree>
    <p:extLst>
      <p:ext uri="{BB962C8B-B14F-4D97-AF65-F5344CB8AC3E}">
        <p14:creationId xmlns:p14="http://schemas.microsoft.com/office/powerpoint/2010/main" val="4019333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>
          <a:extLst>
            <a:ext uri="{FF2B5EF4-FFF2-40B4-BE49-F238E27FC236}">
              <a16:creationId xmlns:a16="http://schemas.microsoft.com/office/drawing/2014/main" id="{D4F2DB61-AAEF-A6C5-28BD-6BE70F98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2">
            <a:extLst>
              <a:ext uri="{FF2B5EF4-FFF2-40B4-BE49-F238E27FC236}">
                <a16:creationId xmlns:a16="http://schemas.microsoft.com/office/drawing/2014/main" id="{018609AF-0D5A-57BD-CD20-0464AEC72B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965" y="1999050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Vielen Dank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3143406"/>
      </p:ext>
    </p:extLst>
  </p:cSld>
  <p:clrMapOvr>
    <a:masterClrMapping/>
  </p:clrMapOvr>
</p:sld>
</file>

<file path=ppt/theme/theme1.xml><?xml version="1.0" encoding="utf-8"?>
<a:theme xmlns:a="http://schemas.openxmlformats.org/drawingml/2006/main" name="Cellular Respiration and its Impact on Health Research Thesis Defense by Slidesgo">
  <a:themeElements>
    <a:clrScheme name="Simple Light">
      <a:dk1>
        <a:srgbClr val="0B3550"/>
      </a:dk1>
      <a:lt1>
        <a:srgbClr val="F6F6F6"/>
      </a:lt1>
      <a:dk2>
        <a:srgbClr val="0584A4"/>
      </a:dk2>
      <a:lt2>
        <a:srgbClr val="74CEC4"/>
      </a:lt2>
      <a:accent1>
        <a:srgbClr val="F255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2C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11007</TotalTime>
  <Words>673</Words>
  <Application>Microsoft Office PowerPoint</Application>
  <PresentationFormat>Affichage à l'écran (16:9)</PresentationFormat>
  <Paragraphs>155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1" baseType="lpstr">
      <vt:lpstr>Albert Sans</vt:lpstr>
      <vt:lpstr>Courier New</vt:lpstr>
      <vt:lpstr>Poppins</vt:lpstr>
      <vt:lpstr>Roboto</vt:lpstr>
      <vt:lpstr>Arial</vt:lpstr>
      <vt:lpstr>Nunito</vt:lpstr>
      <vt:lpstr>Cellular Respiration and its Impact on Health Research Thesis Defense by Slidesgo</vt:lpstr>
      <vt:lpstr>Présentation PowerPoint</vt:lpstr>
      <vt:lpstr>Agenda</vt:lpstr>
      <vt:lpstr>Anforderungen</vt:lpstr>
      <vt:lpstr>Kompilationsprozess</vt:lpstr>
      <vt:lpstr>Eingabe</vt:lpstr>
      <vt:lpstr>Kernbestandteile</vt:lpstr>
      <vt:lpstr>Présentation PowerPoint</vt:lpstr>
      <vt:lpstr>Présentation PowerPoint</vt:lpstr>
      <vt:lpstr>Kernbestandteile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Kernbestandteile</vt:lpstr>
      <vt:lpstr>Présentation PowerPoint</vt:lpstr>
      <vt:lpstr>Kernbestandteile</vt:lpstr>
      <vt:lpstr>Présentation PowerPoint</vt:lpstr>
      <vt:lpstr>Présentation PowerPoint</vt:lpstr>
      <vt:lpstr>Présentation PowerPoint</vt:lpstr>
      <vt:lpstr>Live-Demo</vt:lpstr>
      <vt:lpstr>Fazit</vt:lpstr>
      <vt:lpstr>Vielen Dank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kalil sacko</cp:lastModifiedBy>
  <cp:revision>72</cp:revision>
  <dcterms:modified xsi:type="dcterms:W3CDTF">2024-12-19T12:45:33Z</dcterms:modified>
</cp:coreProperties>
</file>